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60" d="100"/>
          <a:sy n="60" d="100"/>
        </p:scale>
        <p:origin x="8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NanumGothic" panose="020D0604000000000000" pitchFamily="34" charset="-127"/>
        <a:ea typeface="NanumGothic" panose="020D0604000000000000" pitchFamily="34" charset="-127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sz="3420" b="0" i="0"/>
            </a:lvl1pPr>
          </a:lstStyle>
          <a:p>
            <a:r>
              <a:rPr dirty="0" err="1"/>
              <a:t>저자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날짜</a:t>
            </a:r>
            <a:endParaRPr dirty="0"/>
          </a:p>
        </p:txBody>
      </p:sp>
      <p:sp>
        <p:nvSpPr>
          <p:cNvPr id="1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b="0" i="0" spc="-232"/>
            </a:lvl1pPr>
          </a:lstStyle>
          <a:p>
            <a:r>
              <a:rPr dirty="0" err="1"/>
              <a:t>프레젠테이션</a:t>
            </a:r>
            <a:r>
              <a:rPr dirty="0"/>
              <a:t> </a:t>
            </a:r>
            <a:r>
              <a:rPr dirty="0" err="1"/>
              <a:t>제목</a:t>
            </a:r>
            <a:endParaRPr dirty="0"/>
          </a:p>
        </p:txBody>
      </p:sp>
      <p:sp>
        <p:nvSpPr>
          <p:cNvPr id="13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0" i="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0" i="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0" i="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0" i="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0" i="0"/>
            </a:lvl5pPr>
          </a:lstStyle>
          <a:p>
            <a:r>
              <a:rPr dirty="0" err="1"/>
              <a:t>프레젠테이션</a:t>
            </a:r>
            <a:r>
              <a:rPr dirty="0"/>
              <a:t> </a:t>
            </a:r>
            <a:r>
              <a:rPr dirty="0" err="1"/>
              <a:t>부제</a:t>
            </a:r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1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아보카도와 라임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>
            <a:lvl1pPr>
              <a:defRPr b="0" i="0"/>
            </a:lvl1pPr>
          </a:lstStyle>
          <a:p>
            <a:endParaRPr dirty="0"/>
          </a:p>
        </p:txBody>
      </p:sp>
      <p:sp>
        <p:nvSpPr>
          <p:cNvPr id="2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b="0" i="0" spc="-232"/>
            </a:lvl1pPr>
          </a:lstStyle>
          <a:p>
            <a:r>
              <a:rPr dirty="0" err="1"/>
              <a:t>프레젠테이션</a:t>
            </a:r>
            <a:r>
              <a:rPr dirty="0"/>
              <a:t> </a:t>
            </a:r>
            <a:r>
              <a:rPr dirty="0" err="1"/>
              <a:t>제목</a:t>
            </a:r>
            <a:endParaRPr dirty="0"/>
          </a:p>
        </p:txBody>
      </p:sp>
      <p:sp>
        <p:nvSpPr>
          <p:cNvPr id="23" name="저자 및 날짜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sz="3420" b="0" i="0"/>
            </a:lvl1pPr>
          </a:lstStyle>
          <a:p>
            <a:r>
              <a:rPr dirty="0" err="1"/>
              <a:t>저자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날짜</a:t>
            </a:r>
            <a:endParaRPr dirty="0"/>
          </a:p>
        </p:txBody>
      </p:sp>
      <p:sp>
        <p:nvSpPr>
          <p:cNvPr id="24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0" i="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0" i="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0" i="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0" i="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0" i="0"/>
            </a:lvl5pPr>
          </a:lstStyle>
          <a:p>
            <a:r>
              <a:rPr dirty="0" err="1"/>
              <a:t>프레젠테이션</a:t>
            </a:r>
            <a:r>
              <a:rPr dirty="0"/>
              <a:t> </a:t>
            </a:r>
            <a:r>
              <a:rPr dirty="0" err="1"/>
              <a:t>부제</a:t>
            </a:r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2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 대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연어 어묵, 샐러드, 후무스가 든 그릇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>
            <a:lvl1pPr>
              <a:defRPr b="0" i="0"/>
            </a:lvl1pPr>
          </a:lstStyle>
          <a:p>
            <a:endParaRPr dirty="0"/>
          </a:p>
        </p:txBody>
      </p:sp>
      <p:sp>
        <p:nvSpPr>
          <p:cNvPr id="3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>
            <a:lvl1pPr>
              <a:defRPr b="0" i="0"/>
            </a:lvl1pPr>
          </a:lstStyle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제목</a:t>
            </a:r>
            <a:endParaRPr dirty="0"/>
          </a:p>
        </p:txBody>
      </p:sp>
      <p:sp>
        <p:nvSpPr>
          <p:cNvPr id="34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0" i="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0" i="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0" i="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0" i="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0" i="0"/>
            </a:lvl5pPr>
          </a:lstStyle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부제</a:t>
            </a:r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3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848319" y="13080242"/>
            <a:ext cx="674865" cy="379591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슬라이드 제목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제목</a:t>
            </a:r>
            <a:endParaRPr dirty="0"/>
          </a:p>
        </p:txBody>
      </p:sp>
      <p:sp>
        <p:nvSpPr>
          <p:cNvPr id="43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0" i="0"/>
            </a:lvl1pPr>
          </a:lstStyle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부제</a:t>
            </a:r>
            <a:endParaRPr dirty="0"/>
          </a:p>
        </p:txBody>
      </p:sp>
      <p:sp>
        <p:nvSpPr>
          <p:cNvPr id="44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구분점</a:t>
            </a:r>
            <a:r>
              <a:rPr dirty="0"/>
              <a:t> </a:t>
            </a:r>
            <a:r>
              <a:rPr dirty="0" err="1"/>
              <a:t>텍스트</a:t>
            </a:r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구분점</a:t>
            </a:r>
            <a:r>
              <a:rPr dirty="0"/>
              <a:t> </a:t>
            </a:r>
            <a:r>
              <a:rPr dirty="0" err="1"/>
              <a:t>텍스트</a:t>
            </a:r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5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0" i="0"/>
            </a:lvl1pPr>
          </a:lstStyle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부제</a:t>
            </a:r>
            <a:endParaRPr dirty="0"/>
          </a:p>
        </p:txBody>
      </p:sp>
      <p:sp>
        <p:nvSpPr>
          <p:cNvPr id="61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구분점</a:t>
            </a:r>
            <a:r>
              <a:rPr dirty="0"/>
              <a:t> </a:t>
            </a:r>
            <a:r>
              <a:rPr dirty="0" err="1"/>
              <a:t>텍스트</a:t>
            </a:r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62" name="파슬리 버터, 구운 헤이즐넛, 파르메산 치즈를 올린 파파르델레 파스타 그릇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>
            <a:lvl1pPr>
              <a:defRPr b="0" i="0"/>
            </a:lvl1pPr>
          </a:lstStyle>
          <a:p>
            <a:endParaRPr dirty="0"/>
          </a:p>
        </p:txBody>
      </p:sp>
      <p:sp>
        <p:nvSpPr>
          <p:cNvPr id="6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제목</a:t>
            </a:r>
            <a:endParaRPr dirty="0"/>
          </a:p>
        </p:txBody>
      </p:sp>
      <p:sp>
        <p:nvSpPr>
          <p:cNvPr id="6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작은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0" i="0"/>
            </a:lvl1pPr>
          </a:lstStyle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부제</a:t>
            </a:r>
            <a:endParaRPr dirty="0"/>
          </a:p>
        </p:txBody>
      </p:sp>
      <p:sp>
        <p:nvSpPr>
          <p:cNvPr id="72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구분점</a:t>
            </a:r>
            <a:r>
              <a:rPr dirty="0"/>
              <a:t> </a:t>
            </a:r>
            <a:r>
              <a:rPr dirty="0" err="1"/>
              <a:t>텍스트</a:t>
            </a:r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7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제목</a:t>
            </a:r>
            <a:endParaRPr dirty="0"/>
          </a:p>
        </p:txBody>
      </p:sp>
      <p:sp>
        <p:nvSpPr>
          <p:cNvPr id="7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큰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0" i="0"/>
            </a:lvl1pPr>
          </a:lstStyle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부제</a:t>
            </a:r>
            <a:endParaRPr dirty="0"/>
          </a:p>
        </p:txBody>
      </p:sp>
      <p:sp>
        <p:nvSpPr>
          <p:cNvPr id="82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구분점</a:t>
            </a:r>
            <a:r>
              <a:rPr dirty="0"/>
              <a:t> </a:t>
            </a:r>
            <a:r>
              <a:rPr dirty="0" err="1"/>
              <a:t>텍스트</a:t>
            </a:r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8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제목</a:t>
            </a:r>
            <a:endParaRPr dirty="0"/>
          </a:p>
        </p:txBody>
      </p:sp>
      <p:sp>
        <p:nvSpPr>
          <p:cNvPr id="8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섹션 제목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섹션 제목</a:t>
            </a:r>
          </a:p>
        </p:txBody>
      </p:sp>
      <p:sp>
        <p:nvSpPr>
          <p:cNvPr id="9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848319" y="13080242"/>
            <a:ext cx="674865" cy="379591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전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제목</a:t>
            </a:r>
            <a:endParaRPr dirty="0"/>
          </a:p>
        </p:txBody>
      </p:sp>
      <p:sp>
        <p:nvSpPr>
          <p:cNvPr id="100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0" i="0"/>
            </a:lvl1pPr>
          </a:lstStyle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부제</a:t>
            </a:r>
            <a:endParaRPr dirty="0"/>
          </a:p>
        </p:txBody>
      </p:sp>
      <p:sp>
        <p:nvSpPr>
          <p:cNvPr id="10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의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r>
              <a:rPr dirty="0" err="1"/>
              <a:t>의제</a:t>
            </a:r>
            <a:r>
              <a:rPr dirty="0"/>
              <a:t> </a:t>
            </a:r>
            <a:r>
              <a:rPr dirty="0" err="1"/>
              <a:t>제목</a:t>
            </a:r>
            <a:endParaRPr dirty="0"/>
          </a:p>
        </p:txBody>
      </p:sp>
      <p:sp>
        <p:nvSpPr>
          <p:cNvPr id="109" name="의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0" i="0"/>
            </a:lvl1pPr>
          </a:lstStyle>
          <a:p>
            <a:r>
              <a:rPr dirty="0" err="1"/>
              <a:t>의제</a:t>
            </a:r>
            <a:r>
              <a:rPr dirty="0"/>
              <a:t> </a:t>
            </a:r>
            <a:r>
              <a:rPr dirty="0" err="1"/>
              <a:t>부제</a:t>
            </a:r>
            <a:endParaRPr dirty="0"/>
          </a:p>
        </p:txBody>
      </p:sp>
      <p:sp>
        <p:nvSpPr>
          <p:cNvPr id="110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b="0" i="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b="0" i="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b="0" i="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b="0" i="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b="0" i="0" spc="-55"/>
            </a:lvl5pPr>
          </a:lstStyle>
          <a:p>
            <a:r>
              <a:rPr dirty="0" err="1"/>
              <a:t>의제</a:t>
            </a:r>
            <a:r>
              <a:rPr dirty="0"/>
              <a:t> </a:t>
            </a:r>
            <a:r>
              <a:rPr dirty="0" err="1"/>
              <a:t>주제</a:t>
            </a:r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11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내역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내역서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중요한 사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0" i="0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0" i="0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0" i="0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0" i="0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0" i="0" spc="-250"/>
            </a:lvl5pPr>
          </a:lstStyle>
          <a:p>
            <a:r>
              <a:rPr dirty="0"/>
              <a:t>100%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127" name="사실 정보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0" i="0"/>
            </a:lvl1pPr>
          </a:lstStyle>
          <a:p>
            <a:r>
              <a:rPr dirty="0" err="1"/>
              <a:t>사실</a:t>
            </a:r>
            <a:r>
              <a:rPr dirty="0"/>
              <a:t> </a:t>
            </a:r>
            <a:r>
              <a:rPr dirty="0" err="1"/>
              <a:t>정보</a:t>
            </a:r>
            <a:endParaRPr dirty="0"/>
          </a:p>
        </p:txBody>
      </p:sp>
      <p:sp>
        <p:nvSpPr>
          <p:cNvPr id="128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속성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0" i="0"/>
            </a:lvl1pPr>
          </a:lstStyle>
          <a:p>
            <a:r>
              <a:rPr dirty="0" err="1"/>
              <a:t>속성</a:t>
            </a:r>
            <a:endParaRPr dirty="0"/>
          </a:p>
        </p:txBody>
      </p:sp>
      <p:sp>
        <p:nvSpPr>
          <p:cNvPr id="136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“멋진 인용구”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볶음밥과 삶은 계란을 넣은 샐러드 그릇과 젓가락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>
            <a:lvl1pPr>
              <a:defRPr b="0" i="0"/>
            </a:lvl1pPr>
          </a:lstStyle>
          <a:p>
            <a:endParaRPr dirty="0"/>
          </a:p>
        </p:txBody>
      </p:sp>
      <p:sp>
        <p:nvSpPr>
          <p:cNvPr id="145" name="연어 어묵, 샐러드, 후무스가 든 그릇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>
            <a:lvl1pPr>
              <a:defRPr b="0" i="0"/>
            </a:lvl1pPr>
          </a:lstStyle>
          <a:p>
            <a:endParaRPr dirty="0"/>
          </a:p>
        </p:txBody>
      </p:sp>
      <p:sp>
        <p:nvSpPr>
          <p:cNvPr id="146" name="파슬리 버터, 구운 헤이즐넛, 파르메산 치즈를 올린 파파르델레 파스타 그릇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>
            <a:lvl1pPr>
              <a:defRPr b="0" i="0"/>
            </a:lvl1pPr>
          </a:lstStyle>
          <a:p>
            <a:endParaRPr dirty="0"/>
          </a:p>
        </p:txBody>
      </p:sp>
      <p:sp>
        <p:nvSpPr>
          <p:cNvPr id="14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볶음밥과 삶은 계란을 넣은 샐러드 그릇과 젓가락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>
            <a:lvl1pPr>
              <a:defRPr b="0" i="0"/>
            </a:lvl1pPr>
          </a:lstStyle>
          <a:p>
            <a:endParaRPr dirty="0"/>
          </a:p>
        </p:txBody>
      </p:sp>
      <p:sp>
        <p:nvSpPr>
          <p:cNvPr id="15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제목</a:t>
            </a:r>
            <a:endParaRPr dirty="0"/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구분점</a:t>
            </a:r>
            <a:r>
              <a:rPr dirty="0"/>
              <a:t> </a:t>
            </a:r>
            <a:r>
              <a:rPr dirty="0" err="1"/>
              <a:t>텍스트</a:t>
            </a:r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848319" y="13076008"/>
            <a:ext cx="674865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0" i="0" u="none" strike="noStrike" cap="none" spc="-170" baseline="0">
          <a:solidFill>
            <a:srgbClr val="000000"/>
          </a:solidFill>
          <a:uFillTx/>
          <a:latin typeface="NanumGothic" panose="020D0604000000000000" pitchFamily="34" charset="-127"/>
          <a:ea typeface="NanumGothic" panose="020D0604000000000000" pitchFamily="34" charset="-127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NanumGothic" panose="020D0604000000000000" pitchFamily="34" charset="-127"/>
          <a:ea typeface="NanumGothic" panose="020D0604000000000000" pitchFamily="34" charset="-127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NanumGothic" panose="020D0604000000000000" pitchFamily="34" charset="-127"/>
          <a:ea typeface="NanumGothic" panose="020D0604000000000000" pitchFamily="34" charset="-127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NanumGothic" panose="020D0604000000000000" pitchFamily="34" charset="-127"/>
          <a:ea typeface="NanumGothic" panose="020D0604000000000000" pitchFamily="34" charset="-127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NanumGothic" panose="020D0604000000000000" pitchFamily="34" charset="-127"/>
          <a:ea typeface="NanumGothic" panose="020D0604000000000000" pitchFamily="34" charset="-127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NanumGothic" panose="020D0604000000000000" pitchFamily="34" charset="-127"/>
          <a:ea typeface="NanumGothic" panose="020D0604000000000000" pitchFamily="34" charset="-127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rulili@naver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mailto:mirulili@naver.com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강희지 mirulili@naver.com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algn="r"/>
            <a:r>
              <a:rPr dirty="0"/>
              <a:t>강희지 </a:t>
            </a:r>
            <a:r>
              <a:rPr u="sng" dirty="0">
                <a:hlinkClick r:id="rId2"/>
              </a:rPr>
              <a:t>mirulili@naver.com</a:t>
            </a:r>
          </a:p>
        </p:txBody>
      </p:sp>
      <p:sp>
        <p:nvSpPr>
          <p:cNvPr id="172" name="Friendantial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Friendantial</a:t>
            </a:r>
            <a:endParaRPr dirty="0"/>
          </a:p>
        </p:txBody>
      </p:sp>
      <p:sp>
        <p:nvSpPr>
          <p:cNvPr id="173" name="나의 AI 투자친구, 프렌덴셜…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나의</a:t>
            </a:r>
            <a:r>
              <a:rPr dirty="0"/>
              <a:t> AI </a:t>
            </a:r>
            <a:r>
              <a:rPr dirty="0" err="1"/>
              <a:t>투자친구</a:t>
            </a:r>
            <a:r>
              <a:rPr dirty="0"/>
              <a:t>, </a:t>
            </a:r>
            <a:r>
              <a:rPr dirty="0" err="1"/>
              <a:t>프렌덴셜</a:t>
            </a:r>
            <a:endParaRPr dirty="0"/>
          </a:p>
          <a:p>
            <a:pPr>
              <a:defRPr sz="4000"/>
            </a:pPr>
            <a:r>
              <a:rPr dirty="0" err="1"/>
              <a:t>아침마다</a:t>
            </a:r>
            <a:r>
              <a:rPr dirty="0"/>
              <a:t> </a:t>
            </a:r>
            <a:r>
              <a:rPr dirty="0" err="1"/>
              <a:t>완성되는</a:t>
            </a:r>
            <a:r>
              <a:rPr dirty="0"/>
              <a:t> </a:t>
            </a:r>
            <a:r>
              <a:rPr dirty="0" err="1"/>
              <a:t>오늘의</a:t>
            </a:r>
            <a:r>
              <a:rPr dirty="0"/>
              <a:t> </a:t>
            </a:r>
            <a:r>
              <a:rPr dirty="0" err="1"/>
              <a:t>포트폴리오</a:t>
            </a:r>
            <a:endParaRPr dirty="0"/>
          </a:p>
        </p:txBody>
      </p:sp>
      <p:sp>
        <p:nvSpPr>
          <p:cNvPr id="174" name="[Koscom AI Agent Challenge 2025] 1차 기획안"/>
          <p:cNvSpPr txBox="1"/>
          <p:nvPr/>
        </p:nvSpPr>
        <p:spPr>
          <a:xfrm>
            <a:off x="1206499" y="12469279"/>
            <a:ext cx="21971002" cy="636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algn="r" defTabSz="784225">
              <a:lnSpc>
                <a:spcPct val="100000"/>
              </a:lnSpc>
              <a:spcBef>
                <a:spcPts val="0"/>
              </a:spcBef>
              <a:defRPr sz="3420" b="1"/>
            </a:lvl1pPr>
          </a:lstStyle>
          <a:p>
            <a:r>
              <a:rPr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[</a:t>
            </a:r>
            <a:r>
              <a:rPr b="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Koscom</a:t>
            </a:r>
            <a:r>
              <a:rPr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 AI Agent Challenge 2025] 1차 </a:t>
            </a:r>
            <a:r>
              <a:rPr b="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기획안</a:t>
            </a:r>
            <a:endParaRPr b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365EB0-173C-E090-043C-6B8C62A0263C}"/>
              </a:ext>
            </a:extLst>
          </p:cNvPr>
          <p:cNvSpPr txBox="1"/>
          <p:nvPr/>
        </p:nvSpPr>
        <p:spPr>
          <a:xfrm>
            <a:off x="3744342" y="3133104"/>
            <a:ext cx="18670773" cy="84079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2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Helvetica Neue"/>
              </a:rPr>
              <a:t>1. </a:t>
            </a:r>
            <a:r>
              <a:rPr kumimoji="0" lang="ko-KR" alt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Helvetica Neue"/>
              </a:rPr>
              <a:t>기획 배경</a:t>
            </a:r>
          </a:p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Helvetica Neue"/>
              </a:rPr>
              <a:t>2. </a:t>
            </a:r>
            <a:r>
              <a:rPr kumimoji="0" lang="ko-KR" alt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Helvetica Neue"/>
              </a:rPr>
              <a:t>솔루션 구상</a:t>
            </a:r>
          </a:p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Helvetica Neue"/>
              </a:rPr>
              <a:t>3. </a:t>
            </a:r>
            <a:r>
              <a:rPr kumimoji="0" lang="en" altLang="ko-KR" sz="44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Helvetica Neue"/>
              </a:rPr>
              <a:t>Friendantial</a:t>
            </a:r>
            <a:r>
              <a:rPr kumimoji="0" lang="ko-KR" alt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Helvetica Neue"/>
              </a:rPr>
              <a:t>만의 특별함</a:t>
            </a:r>
          </a:p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Helvetica Neue"/>
              </a:rPr>
              <a:t>4. </a:t>
            </a:r>
            <a:r>
              <a:rPr kumimoji="0" lang="ko-KR" altLang="en-US" sz="44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Helvetica Neue"/>
              </a:rPr>
              <a:t>아키텍쳐</a:t>
            </a:r>
            <a:endParaRPr kumimoji="0" lang="ko-KR" altLang="en-US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anumGothic" panose="020D0604000000000000" pitchFamily="34" charset="-127"/>
              <a:ea typeface="NanumGothic" panose="020D0604000000000000" pitchFamily="34" charset="-127"/>
              <a:sym typeface="Helvetica Neue"/>
            </a:endParaRPr>
          </a:p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Helvetica Neue"/>
              </a:rPr>
              <a:t>5. </a:t>
            </a:r>
            <a:r>
              <a:rPr kumimoji="0" lang="ko-KR" alt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Helvetica Neue"/>
              </a:rPr>
              <a:t>기술 스택</a:t>
            </a:r>
          </a:p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Helvetica Neue"/>
              </a:rPr>
              <a:t>6. </a:t>
            </a:r>
            <a:r>
              <a:rPr kumimoji="0" lang="ko-KR" alt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Helvetica Neue"/>
              </a:rPr>
              <a:t>핵심 구현</a:t>
            </a:r>
          </a:p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Helvetica Neue"/>
              </a:rPr>
              <a:t>7. </a:t>
            </a:r>
            <a:r>
              <a:rPr kumimoji="0" lang="ko-KR" alt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Helvetica Neue"/>
              </a:rPr>
              <a:t>구현 현황</a:t>
            </a:r>
          </a:p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Helvetica Neue"/>
              </a:rPr>
              <a:t>8. </a:t>
            </a:r>
            <a:r>
              <a:rPr kumimoji="0" lang="ko-KR" alt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Helvetica Neue"/>
              </a:rPr>
              <a:t>구현 세부사항</a:t>
            </a:r>
          </a:p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Helvetica Neue"/>
              </a:rPr>
              <a:t>9. </a:t>
            </a:r>
            <a:r>
              <a:rPr kumimoji="0" lang="ko-KR" alt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Helvetica Neue"/>
              </a:rPr>
              <a:t>향후 성능 개선 및 기술적 목표</a:t>
            </a:r>
          </a:p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Helvetica Neue"/>
              </a:rPr>
              <a:t>10. </a:t>
            </a:r>
            <a:r>
              <a:rPr kumimoji="0" lang="ko-KR" alt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Helvetica Neue"/>
              </a:rPr>
              <a:t>실사용 시나리오</a:t>
            </a:r>
          </a:p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Helvetica Neue"/>
              </a:rPr>
              <a:t>11. </a:t>
            </a:r>
            <a:r>
              <a:rPr kumimoji="0" lang="ko-KR" alt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anumGothic" panose="020D0604000000000000" pitchFamily="34" charset="-127"/>
                <a:ea typeface="NanumGothic" panose="020D0604000000000000" pitchFamily="34" charset="-127"/>
                <a:sym typeface="Helvetica Neue"/>
              </a:rPr>
              <a:t>개발 마일스톤</a:t>
            </a:r>
          </a:p>
        </p:txBody>
      </p:sp>
      <p:sp>
        <p:nvSpPr>
          <p:cNvPr id="3" name="1. 기획 배경">
            <a:extLst>
              <a:ext uri="{FF2B5EF4-FFF2-40B4-BE49-F238E27FC236}">
                <a16:creationId xmlns:a16="http://schemas.microsoft.com/office/drawing/2014/main" id="{655EBE9A-08E6-E840-535F-8FF3B7D91DC5}"/>
              </a:ext>
            </a:extLst>
          </p:cNvPr>
          <p:cNvSpPr txBox="1"/>
          <p:nvPr/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defTabSz="2365188">
              <a:lnSpc>
                <a:spcPct val="80000"/>
              </a:lnSpc>
              <a:spcBef>
                <a:spcPts val="0"/>
              </a:spcBef>
              <a:defRPr sz="8245" b="1" spc="-164"/>
            </a:lvl1pPr>
          </a:lstStyle>
          <a:p>
            <a:r>
              <a:rPr lang="ko-KR" altLang="en-US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목차</a:t>
            </a:r>
            <a:endParaRPr b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Friend + Financial…"/>
          <p:cNvSpPr txBox="1">
            <a:spLocks noGrp="1"/>
          </p:cNvSpPr>
          <p:nvPr>
            <p:ph type="title"/>
          </p:nvPr>
        </p:nvSpPr>
        <p:spPr>
          <a:xfrm>
            <a:off x="6864808" y="3881644"/>
            <a:ext cx="10654384" cy="3609312"/>
          </a:xfrm>
          <a:prstGeom prst="rect">
            <a:avLst/>
          </a:prstGeom>
        </p:spPr>
        <p:txBody>
          <a:bodyPr/>
          <a:lstStyle/>
          <a:p>
            <a:pPr algn="ctr" defTabSz="2096971">
              <a:defRPr sz="7740" spc="-154"/>
            </a:pPr>
            <a:r>
              <a:rPr dirty="0"/>
              <a:t>Friend + Financial</a:t>
            </a:r>
          </a:p>
          <a:p>
            <a:pPr algn="ctr" defTabSz="2096971">
              <a:defRPr sz="7740" spc="-154"/>
            </a:pPr>
            <a:endParaRPr dirty="0"/>
          </a:p>
          <a:p>
            <a:pPr algn="ctr" defTabSz="2096971">
              <a:defRPr sz="10320" spc="-206"/>
            </a:pPr>
            <a:r>
              <a:rPr dirty="0"/>
              <a:t>= </a:t>
            </a:r>
            <a:r>
              <a:rPr dirty="0" err="1"/>
              <a:t>Friendantial</a:t>
            </a:r>
            <a:endParaRPr dirty="0"/>
          </a:p>
        </p:txBody>
      </p:sp>
      <p:sp>
        <p:nvSpPr>
          <p:cNvPr id="180" name="개인 투자자인 아버지의 요청으로부터 착안함  “아침에 그날 살 종목을 바로 추천해주는 AI 프로그램을 만들어달라!”"/>
          <p:cNvSpPr txBox="1">
            <a:spLocks noGrp="1"/>
          </p:cNvSpPr>
          <p:nvPr>
            <p:ph type="body" sz="half" idx="1"/>
          </p:nvPr>
        </p:nvSpPr>
        <p:spPr>
          <a:xfrm>
            <a:off x="2593969" y="9931701"/>
            <a:ext cx="21971001" cy="323713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 err="1"/>
              <a:t>개인</a:t>
            </a:r>
            <a:r>
              <a:rPr dirty="0"/>
              <a:t> </a:t>
            </a:r>
            <a:r>
              <a:rPr dirty="0" err="1"/>
              <a:t>투자자인</a:t>
            </a:r>
            <a:r>
              <a:rPr dirty="0"/>
              <a:t> </a:t>
            </a:r>
            <a:r>
              <a:rPr dirty="0" err="1"/>
              <a:t>아버지의</a:t>
            </a:r>
            <a:r>
              <a:rPr dirty="0"/>
              <a:t> </a:t>
            </a:r>
            <a:r>
              <a:rPr dirty="0" err="1"/>
              <a:t>요청으로부터</a:t>
            </a:r>
            <a:r>
              <a:rPr dirty="0"/>
              <a:t> </a:t>
            </a:r>
            <a:r>
              <a:rPr dirty="0" err="1"/>
              <a:t>착안함</a:t>
            </a:r>
            <a:br>
              <a:rPr dirty="0"/>
            </a:br>
            <a:br>
              <a:rPr dirty="0"/>
            </a:br>
            <a:r>
              <a:rPr i="1" dirty="0"/>
              <a:t>“</a:t>
            </a:r>
            <a:r>
              <a:rPr i="1" dirty="0" err="1"/>
              <a:t>아침에</a:t>
            </a:r>
            <a:r>
              <a:rPr i="1" dirty="0"/>
              <a:t> </a:t>
            </a:r>
            <a:r>
              <a:rPr i="1" dirty="0" err="1"/>
              <a:t>그날</a:t>
            </a:r>
            <a:r>
              <a:rPr i="1" dirty="0"/>
              <a:t> </a:t>
            </a:r>
            <a:r>
              <a:rPr i="1" dirty="0" err="1"/>
              <a:t>살</a:t>
            </a:r>
            <a:r>
              <a:rPr i="1" dirty="0"/>
              <a:t> </a:t>
            </a:r>
            <a:r>
              <a:rPr i="1" dirty="0" err="1"/>
              <a:t>종목을</a:t>
            </a:r>
            <a:r>
              <a:rPr i="1" dirty="0"/>
              <a:t> </a:t>
            </a:r>
            <a:r>
              <a:rPr i="1" dirty="0" err="1"/>
              <a:t>바로</a:t>
            </a:r>
            <a:r>
              <a:rPr i="1" dirty="0"/>
              <a:t> </a:t>
            </a:r>
            <a:r>
              <a:rPr i="1" dirty="0" err="1"/>
              <a:t>추천해주는</a:t>
            </a:r>
            <a:r>
              <a:rPr i="1" dirty="0"/>
              <a:t> AI </a:t>
            </a:r>
            <a:r>
              <a:rPr i="1" dirty="0" err="1"/>
              <a:t>프로그램을</a:t>
            </a:r>
            <a:r>
              <a:rPr i="1" dirty="0"/>
              <a:t> </a:t>
            </a:r>
            <a:r>
              <a:rPr i="1" dirty="0" err="1"/>
              <a:t>만들어달라</a:t>
            </a:r>
            <a:r>
              <a:rPr i="1" dirty="0"/>
              <a:t>!”</a:t>
            </a:r>
          </a:p>
        </p:txBody>
      </p:sp>
      <p:sp>
        <p:nvSpPr>
          <p:cNvPr id="181" name="1. 기획 배경"/>
          <p:cNvSpPr txBox="1"/>
          <p:nvPr/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defTabSz="2365188">
              <a:lnSpc>
                <a:spcPct val="80000"/>
              </a:lnSpc>
              <a:spcBef>
                <a:spcPts val="0"/>
              </a:spcBef>
              <a:defRPr sz="8245" b="1" spc="-164"/>
            </a:lvl1pPr>
          </a:lstStyle>
          <a:p>
            <a:r>
              <a:rPr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1. </a:t>
            </a:r>
            <a:r>
              <a:rPr b="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기획</a:t>
            </a:r>
            <a:r>
              <a:rPr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b="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배경</a:t>
            </a:r>
            <a:endParaRPr b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82" name="기획 동기"/>
          <p:cNvSpPr txBox="1"/>
          <p:nvPr/>
        </p:nvSpPr>
        <p:spPr>
          <a:xfrm>
            <a:off x="1206500" y="2372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defTabSz="792479">
              <a:lnSpc>
                <a:spcPct val="100000"/>
              </a:lnSpc>
              <a:spcBef>
                <a:spcPts val="0"/>
              </a:spcBef>
              <a:defRPr sz="5280" b="1"/>
            </a:lvl1pPr>
          </a:lstStyle>
          <a:p>
            <a:r>
              <a:rPr b="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기획</a:t>
            </a:r>
            <a:r>
              <a:rPr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b="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동기</a:t>
            </a:r>
            <a:endParaRPr b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1. 기획 배경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/>
              <a:t>1. </a:t>
            </a:r>
            <a:r>
              <a:rPr dirty="0" err="1"/>
              <a:t>기획</a:t>
            </a:r>
            <a:r>
              <a:rPr dirty="0"/>
              <a:t> </a:t>
            </a:r>
            <a:r>
              <a:rPr dirty="0" err="1"/>
              <a:t>배경</a:t>
            </a:r>
            <a:endParaRPr dirty="0"/>
          </a:p>
        </p:txBody>
      </p:sp>
      <p:sp>
        <p:nvSpPr>
          <p:cNvPr id="185" name="문제점 제시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dirty="0" err="1"/>
              <a:t>문제점</a:t>
            </a:r>
            <a:r>
              <a:rPr dirty="0"/>
              <a:t> </a:t>
            </a:r>
            <a:r>
              <a:rPr dirty="0" err="1"/>
              <a:t>제시</a:t>
            </a:r>
            <a:endParaRPr dirty="0"/>
          </a:p>
        </p:txBody>
      </p:sp>
      <p:sp>
        <p:nvSpPr>
          <p:cNvPr id="186" name="투자자의 가장 큰 고민: “무슨 종목을 사야 할까?”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투자자의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큰</a:t>
            </a:r>
            <a:r>
              <a:rPr dirty="0"/>
              <a:t> </a:t>
            </a:r>
            <a:r>
              <a:rPr dirty="0" err="1"/>
              <a:t>고민</a:t>
            </a:r>
            <a:r>
              <a:rPr dirty="0"/>
              <a:t>: “</a:t>
            </a:r>
            <a:r>
              <a:rPr dirty="0" err="1"/>
              <a:t>무슨</a:t>
            </a:r>
            <a:r>
              <a:rPr dirty="0"/>
              <a:t> </a:t>
            </a:r>
            <a:r>
              <a:rPr dirty="0" err="1"/>
              <a:t>종목을</a:t>
            </a:r>
            <a:r>
              <a:rPr dirty="0"/>
              <a:t> </a:t>
            </a:r>
            <a:r>
              <a:rPr dirty="0" err="1"/>
              <a:t>사야</a:t>
            </a:r>
            <a:r>
              <a:rPr dirty="0"/>
              <a:t> </a:t>
            </a:r>
            <a:r>
              <a:rPr dirty="0" err="1"/>
              <a:t>할까</a:t>
            </a:r>
            <a:r>
              <a:rPr dirty="0"/>
              <a:t>?”</a:t>
            </a:r>
          </a:p>
          <a:p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추천</a:t>
            </a:r>
            <a:r>
              <a:rPr dirty="0"/>
              <a:t> </a:t>
            </a:r>
            <a:r>
              <a:rPr dirty="0" err="1"/>
              <a:t>서비스</a:t>
            </a:r>
            <a:r>
              <a:rPr dirty="0"/>
              <a:t>: </a:t>
            </a:r>
            <a:r>
              <a:rPr dirty="0" err="1"/>
              <a:t>단순한</a:t>
            </a:r>
            <a:r>
              <a:rPr dirty="0"/>
              <a:t> </a:t>
            </a:r>
            <a:r>
              <a:rPr dirty="0" err="1"/>
              <a:t>인기</a:t>
            </a:r>
            <a:r>
              <a:rPr dirty="0"/>
              <a:t> </a:t>
            </a:r>
            <a:r>
              <a:rPr dirty="0" err="1"/>
              <a:t>종목</a:t>
            </a:r>
            <a:r>
              <a:rPr dirty="0"/>
              <a:t> </a:t>
            </a:r>
            <a:r>
              <a:rPr dirty="0" err="1"/>
              <a:t>제시</a:t>
            </a:r>
            <a:r>
              <a:rPr dirty="0"/>
              <a:t>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지표만을</a:t>
            </a:r>
            <a:r>
              <a:rPr dirty="0"/>
              <a:t> </a:t>
            </a:r>
            <a:r>
              <a:rPr dirty="0" err="1"/>
              <a:t>기반으로</a:t>
            </a:r>
            <a:r>
              <a:rPr dirty="0"/>
              <a:t> </a:t>
            </a:r>
            <a:r>
              <a:rPr dirty="0" err="1"/>
              <a:t>함</a:t>
            </a:r>
            <a:endParaRPr dirty="0"/>
          </a:p>
          <a:p>
            <a:r>
              <a:rPr dirty="0" err="1"/>
              <a:t>뉴스와</a:t>
            </a:r>
            <a:r>
              <a:rPr dirty="0"/>
              <a:t> </a:t>
            </a:r>
            <a:r>
              <a:rPr dirty="0" err="1"/>
              <a:t>전문가의</a:t>
            </a:r>
            <a:r>
              <a:rPr dirty="0"/>
              <a:t> </a:t>
            </a:r>
            <a:r>
              <a:rPr dirty="0" err="1"/>
              <a:t>추천을</a:t>
            </a:r>
            <a:r>
              <a:rPr dirty="0"/>
              <a:t> </a:t>
            </a:r>
            <a:r>
              <a:rPr dirty="0" err="1"/>
              <a:t>접하기</a:t>
            </a:r>
            <a:r>
              <a:rPr dirty="0"/>
              <a:t> </a:t>
            </a:r>
            <a:r>
              <a:rPr dirty="0" err="1"/>
              <a:t>쉽지만</a:t>
            </a:r>
            <a:r>
              <a:rPr dirty="0"/>
              <a:t>, </a:t>
            </a:r>
            <a:r>
              <a:rPr dirty="0" err="1"/>
              <a:t>개인이</a:t>
            </a:r>
            <a:r>
              <a:rPr dirty="0"/>
              <a:t> </a:t>
            </a:r>
            <a:r>
              <a:rPr dirty="0" err="1"/>
              <a:t>빠른</a:t>
            </a:r>
            <a:r>
              <a:rPr dirty="0"/>
              <a:t> </a:t>
            </a:r>
            <a:r>
              <a:rPr dirty="0" err="1"/>
              <a:t>판단</a:t>
            </a:r>
            <a:r>
              <a:rPr dirty="0"/>
              <a:t> </a:t>
            </a:r>
            <a:r>
              <a:rPr dirty="0" err="1"/>
              <a:t>하기</a:t>
            </a:r>
            <a:r>
              <a:rPr dirty="0"/>
              <a:t> </a:t>
            </a:r>
            <a:r>
              <a:rPr dirty="0" err="1"/>
              <a:t>어려움</a:t>
            </a:r>
            <a:br>
              <a:rPr dirty="0"/>
            </a:br>
            <a:br>
              <a:rPr dirty="0"/>
            </a:br>
            <a:br>
              <a:rPr dirty="0"/>
            </a:br>
            <a:r>
              <a:rPr dirty="0"/>
              <a:t>→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b="1" dirty="0" err="1"/>
              <a:t>자동화</a:t>
            </a:r>
            <a:r>
              <a:rPr dirty="0"/>
              <a:t> + </a:t>
            </a:r>
            <a:r>
              <a:rPr b="1" dirty="0" err="1"/>
              <a:t>개인화</a:t>
            </a:r>
            <a:r>
              <a:rPr dirty="0" err="1"/>
              <a:t>된</a:t>
            </a:r>
            <a:r>
              <a:rPr dirty="0"/>
              <a:t> </a:t>
            </a:r>
            <a:r>
              <a:rPr dirty="0" err="1"/>
              <a:t>추천</a:t>
            </a:r>
            <a:r>
              <a:rPr dirty="0"/>
              <a:t> </a:t>
            </a:r>
            <a:r>
              <a:rPr dirty="0" err="1"/>
              <a:t>필요성</a:t>
            </a:r>
            <a:r>
              <a:rPr dirty="0"/>
              <a:t> </a:t>
            </a:r>
            <a:r>
              <a:rPr dirty="0" err="1"/>
              <a:t>증가</a:t>
            </a:r>
            <a:br>
              <a:rPr dirty="0"/>
            </a:br>
            <a:br>
              <a:rPr dirty="0"/>
            </a:br>
            <a:r>
              <a:rPr dirty="0"/>
              <a:t>→ MCP Server </a:t>
            </a:r>
            <a:r>
              <a:rPr dirty="0" err="1"/>
              <a:t>환경을</a:t>
            </a:r>
            <a:r>
              <a:rPr dirty="0"/>
              <a:t> </a:t>
            </a:r>
            <a:r>
              <a:rPr dirty="0" err="1"/>
              <a:t>활용한</a:t>
            </a:r>
            <a:r>
              <a:rPr dirty="0"/>
              <a:t> </a:t>
            </a:r>
            <a:r>
              <a:rPr b="1" dirty="0" err="1"/>
              <a:t>투자</a:t>
            </a:r>
            <a:r>
              <a:rPr b="1" dirty="0"/>
              <a:t> </a:t>
            </a:r>
            <a:r>
              <a:rPr b="1" dirty="0" err="1"/>
              <a:t>종목</a:t>
            </a:r>
            <a:r>
              <a:rPr b="1" dirty="0"/>
              <a:t> </a:t>
            </a:r>
            <a:r>
              <a:rPr b="1" dirty="0" err="1"/>
              <a:t>추천</a:t>
            </a:r>
            <a:r>
              <a:rPr b="1" dirty="0"/>
              <a:t> </a:t>
            </a:r>
            <a:r>
              <a:rPr b="1" dirty="0" err="1"/>
              <a:t>서비스</a:t>
            </a:r>
            <a:endParaRPr b="1"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2. 솔루션 구상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/>
              <a:t>2. </a:t>
            </a:r>
            <a:r>
              <a:rPr dirty="0" err="1"/>
              <a:t>솔루션</a:t>
            </a:r>
            <a:r>
              <a:rPr dirty="0"/>
              <a:t> </a:t>
            </a:r>
            <a:r>
              <a:rPr dirty="0" err="1"/>
              <a:t>구상</a:t>
            </a:r>
            <a:endParaRPr dirty="0"/>
          </a:p>
        </p:txBody>
      </p:sp>
      <p:sp>
        <p:nvSpPr>
          <p:cNvPr id="189" name="MCP Server 기반 AI 투자 에이전트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dirty="0"/>
              <a:t>MCP Server </a:t>
            </a:r>
            <a:r>
              <a:rPr dirty="0" err="1"/>
              <a:t>기반</a:t>
            </a:r>
            <a:r>
              <a:rPr dirty="0"/>
              <a:t> AI </a:t>
            </a:r>
            <a:r>
              <a:rPr dirty="0" err="1"/>
              <a:t>투자</a:t>
            </a:r>
            <a:r>
              <a:rPr dirty="0"/>
              <a:t> </a:t>
            </a:r>
            <a:r>
              <a:rPr dirty="0" err="1"/>
              <a:t>에이전트</a:t>
            </a:r>
            <a:endParaRPr dirty="0"/>
          </a:p>
        </p:txBody>
      </p:sp>
      <p:sp>
        <p:nvSpPr>
          <p:cNvPr id="190" name="목표: 시장 데이터, 실시간 뉴스 기반으로 종목 자동 추천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목표</a:t>
            </a:r>
            <a:r>
              <a:rPr dirty="0"/>
              <a:t>: </a:t>
            </a:r>
            <a:r>
              <a:rPr dirty="0" err="1"/>
              <a:t>시장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,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뉴스</a:t>
            </a:r>
            <a:r>
              <a:rPr dirty="0"/>
              <a:t> </a:t>
            </a:r>
            <a:r>
              <a:rPr dirty="0" err="1"/>
              <a:t>기반으로</a:t>
            </a:r>
            <a:r>
              <a:rPr dirty="0"/>
              <a:t> </a:t>
            </a:r>
            <a:r>
              <a:rPr dirty="0" err="1"/>
              <a:t>종목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추천</a:t>
            </a:r>
            <a:endParaRPr dirty="0"/>
          </a:p>
          <a:p>
            <a:r>
              <a:rPr dirty="0" err="1"/>
              <a:t>작동</a:t>
            </a:r>
            <a:r>
              <a:rPr dirty="0"/>
              <a:t> </a:t>
            </a:r>
            <a:r>
              <a:rPr dirty="0" err="1"/>
              <a:t>원리</a:t>
            </a:r>
            <a:r>
              <a:rPr dirty="0"/>
              <a:t>:</a:t>
            </a:r>
          </a:p>
          <a:p>
            <a:pPr lvl="1"/>
            <a:r>
              <a:rPr dirty="0"/>
              <a:t>MCP </a:t>
            </a:r>
            <a:r>
              <a:rPr dirty="0" err="1"/>
              <a:t>서버에서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수집</a:t>
            </a:r>
            <a:endParaRPr dirty="0"/>
          </a:p>
          <a:p>
            <a:pPr lvl="1"/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연산</a:t>
            </a:r>
            <a:endParaRPr dirty="0"/>
          </a:p>
          <a:p>
            <a:pPr lvl="1"/>
            <a:r>
              <a:rPr dirty="0" err="1"/>
              <a:t>추천</a:t>
            </a:r>
            <a:r>
              <a:rPr dirty="0"/>
              <a:t> </a:t>
            </a:r>
            <a:r>
              <a:rPr dirty="0" err="1"/>
              <a:t>종목</a:t>
            </a:r>
            <a:r>
              <a:rPr dirty="0"/>
              <a:t> </a:t>
            </a:r>
            <a:r>
              <a:rPr dirty="0" err="1"/>
              <a:t>전달</a:t>
            </a:r>
            <a:endParaRPr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2. 솔루션 구상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/>
              <a:t>2. </a:t>
            </a:r>
            <a:r>
              <a:rPr dirty="0" err="1"/>
              <a:t>솔루션</a:t>
            </a:r>
            <a:r>
              <a:rPr dirty="0"/>
              <a:t> </a:t>
            </a:r>
            <a:r>
              <a:rPr dirty="0" err="1"/>
              <a:t>구상</a:t>
            </a:r>
            <a:endParaRPr dirty="0"/>
          </a:p>
        </p:txBody>
      </p:sp>
      <p:sp>
        <p:nvSpPr>
          <p:cNvPr id="193" name="파이프라인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825500">
              <a:defRPr sz="5500"/>
            </a:lvl1pPr>
          </a:lstStyle>
          <a:p>
            <a:r>
              <a:rPr dirty="0" err="1"/>
              <a:t>파이프라인</a:t>
            </a:r>
            <a:endParaRPr dirty="0"/>
          </a:p>
        </p:txBody>
      </p:sp>
      <p:sp>
        <p:nvSpPr>
          <p:cNvPr id="195" name="FDR(FinancialDataReader)로부터 시세 수집"/>
          <p:cNvSpPr/>
          <p:nvPr/>
        </p:nvSpPr>
        <p:spPr>
          <a:xfrm>
            <a:off x="6530280" y="3119891"/>
            <a:ext cx="12560085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>
              <a:defRPr sz="4000"/>
            </a:lvl1pPr>
          </a:lstStyle>
          <a:p>
            <a:r>
              <a:rPr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FDR(</a:t>
            </a:r>
            <a:r>
              <a:rPr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FinancialDataReader</a:t>
            </a:r>
            <a:r>
              <a:rPr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로부터</a:t>
            </a:r>
            <a:r>
              <a:rPr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시세</a:t>
            </a:r>
            <a:r>
              <a:rPr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수집</a:t>
            </a:r>
            <a:endParaRPr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6" name="5/20/60일선 수익률 및 변동성 계산"/>
          <p:cNvSpPr/>
          <p:nvPr/>
        </p:nvSpPr>
        <p:spPr>
          <a:xfrm>
            <a:off x="6530280" y="5244658"/>
            <a:ext cx="12560085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>
              <a:defRPr sz="4000"/>
            </a:lvl1pPr>
          </a:lstStyle>
          <a:p>
            <a:r>
              <a:rPr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5/20/60일선 </a:t>
            </a:r>
            <a:r>
              <a:rPr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수익률</a:t>
            </a:r>
            <a:r>
              <a:rPr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및</a:t>
            </a:r>
            <a:r>
              <a:rPr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변동성</a:t>
            </a:r>
            <a:r>
              <a:rPr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계산</a:t>
            </a:r>
            <a:endParaRPr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7" name="모멘텀 + 뉴스분석 종합하여 상위 5개 종목 추천"/>
          <p:cNvSpPr/>
          <p:nvPr/>
        </p:nvSpPr>
        <p:spPr>
          <a:xfrm>
            <a:off x="6530280" y="9518743"/>
            <a:ext cx="12560085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/>
          <a:p>
            <a:pPr algn="ctr">
              <a:defRPr sz="4000"/>
            </a:pPr>
            <a:endParaRPr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8" name="5/20/60일선 수익률 및 변동성 계산"/>
          <p:cNvSpPr/>
          <p:nvPr/>
        </p:nvSpPr>
        <p:spPr>
          <a:xfrm>
            <a:off x="7033309" y="9543297"/>
            <a:ext cx="11554023" cy="1168274"/>
          </a:xfrm>
          <a:prstGeom prst="roundRect">
            <a:avLst>
              <a:gd name="adj" fmla="val 15000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/>
          </a:lstStyle>
          <a:p>
            <a:pPr>
              <a:defRPr sz="4000"/>
            </a:pPr>
            <a:r>
              <a:rPr lang="ko-KR" altLang="en-US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모멘텀 </a:t>
            </a:r>
            <a:r>
              <a:rPr lang="en-US" altLang="ko-KR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+ </a:t>
            </a:r>
            <a:r>
              <a:rPr lang="ko-KR" altLang="en-US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뉴스분석 종합하여 상위 </a:t>
            </a:r>
            <a:r>
              <a:rPr lang="en-US" altLang="ko-KR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r>
              <a:rPr lang="ko-KR" altLang="en-US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개 종목 추천</a:t>
            </a:r>
          </a:p>
        </p:txBody>
      </p:sp>
      <p:sp>
        <p:nvSpPr>
          <p:cNvPr id="199" name="응답 기반 결과 레포트 제공"/>
          <p:cNvSpPr/>
          <p:nvPr/>
        </p:nvSpPr>
        <p:spPr>
          <a:xfrm>
            <a:off x="6530280" y="11668062"/>
            <a:ext cx="12560085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/>
          <a:p>
            <a:pPr algn="ctr">
              <a:defRPr sz="4000"/>
            </a:pPr>
            <a:endParaRPr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00" name="5/20/60일선 수익률 및 변동성 계산"/>
          <p:cNvSpPr/>
          <p:nvPr/>
        </p:nvSpPr>
        <p:spPr>
          <a:xfrm>
            <a:off x="7033308" y="11709723"/>
            <a:ext cx="11554023" cy="1168273"/>
          </a:xfrm>
          <a:prstGeom prst="roundRect">
            <a:avLst>
              <a:gd name="adj" fmla="val 15000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/>
          </a:lstStyle>
          <a:p>
            <a:pPr>
              <a:defRPr sz="4000"/>
            </a:pPr>
            <a:r>
              <a:rPr lang="ko-KR" altLang="en-US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응답 기반 결과 </a:t>
            </a:r>
            <a:r>
              <a:rPr lang="ko-KR" altLang="en-US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레포트</a:t>
            </a:r>
            <a:r>
              <a:rPr lang="ko-KR" altLang="en-US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제공</a:t>
            </a:r>
          </a:p>
        </p:txBody>
      </p:sp>
      <p:sp>
        <p:nvSpPr>
          <p:cNvPr id="201" name="구글 뉴스 3건 감성(Sentiment) 분석"/>
          <p:cNvSpPr/>
          <p:nvPr/>
        </p:nvSpPr>
        <p:spPr>
          <a:xfrm>
            <a:off x="6530280" y="7369424"/>
            <a:ext cx="12560085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/>
          <a:p>
            <a:pPr algn="ctr">
              <a:defRPr sz="4000"/>
            </a:pPr>
            <a:endParaRPr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02" name="5/20/60일선 수익률 및 변동성 계산"/>
          <p:cNvSpPr/>
          <p:nvPr/>
        </p:nvSpPr>
        <p:spPr>
          <a:xfrm>
            <a:off x="7033310" y="7411084"/>
            <a:ext cx="11554023" cy="1168274"/>
          </a:xfrm>
          <a:prstGeom prst="roundRect">
            <a:avLst>
              <a:gd name="adj" fmla="val 15000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/>
          </a:lstStyle>
          <a:p>
            <a:pPr>
              <a:defRPr sz="4000"/>
            </a:pPr>
            <a:r>
              <a:rPr lang="ko-KR" altLang="en-US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구글 뉴스 </a:t>
            </a:r>
            <a:r>
              <a:rPr lang="en-US" altLang="ko-KR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r>
              <a:rPr lang="ko-KR" altLang="en-US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건 감성</a:t>
            </a:r>
            <a:r>
              <a:rPr lang="en-US" altLang="ko-KR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Sentiment) </a:t>
            </a:r>
            <a:r>
              <a:rPr lang="ko-KR" altLang="en-US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분석</a:t>
            </a:r>
          </a:p>
        </p:txBody>
      </p:sp>
      <p:sp>
        <p:nvSpPr>
          <p:cNvPr id="203" name="화살표"/>
          <p:cNvSpPr/>
          <p:nvPr/>
        </p:nvSpPr>
        <p:spPr>
          <a:xfrm rot="5400000">
            <a:off x="12624183" y="4503392"/>
            <a:ext cx="372278" cy="627766"/>
          </a:xfrm>
          <a:prstGeom prst="rightArrow">
            <a:avLst>
              <a:gd name="adj1" fmla="val 32000"/>
              <a:gd name="adj2" fmla="val 134335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04" name="화살표"/>
          <p:cNvSpPr/>
          <p:nvPr/>
        </p:nvSpPr>
        <p:spPr>
          <a:xfrm rot="5400000">
            <a:off x="12624183" y="6640434"/>
            <a:ext cx="372278" cy="627766"/>
          </a:xfrm>
          <a:prstGeom prst="rightArrow">
            <a:avLst>
              <a:gd name="adj1" fmla="val 32000"/>
              <a:gd name="adj2" fmla="val 134335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05" name="화살표"/>
          <p:cNvSpPr/>
          <p:nvPr/>
        </p:nvSpPr>
        <p:spPr>
          <a:xfrm rot="5400000">
            <a:off x="12624183" y="8777478"/>
            <a:ext cx="372278" cy="627766"/>
          </a:xfrm>
          <a:prstGeom prst="rightArrow">
            <a:avLst>
              <a:gd name="adj1" fmla="val 32000"/>
              <a:gd name="adj2" fmla="val 134335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06" name="화살표"/>
          <p:cNvSpPr/>
          <p:nvPr/>
        </p:nvSpPr>
        <p:spPr>
          <a:xfrm rot="5400000">
            <a:off x="12624183" y="10914520"/>
            <a:ext cx="372278" cy="627766"/>
          </a:xfrm>
          <a:prstGeom prst="rightArrow">
            <a:avLst>
              <a:gd name="adj1" fmla="val 32000"/>
              <a:gd name="adj2" fmla="val 134335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3. Friendantial 만의 특별함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/>
              <a:t>3. </a:t>
            </a:r>
            <a:r>
              <a:rPr dirty="0" err="1"/>
              <a:t>Friendantial</a:t>
            </a:r>
            <a:r>
              <a:rPr dirty="0"/>
              <a:t> </a:t>
            </a:r>
            <a:r>
              <a:rPr dirty="0" err="1"/>
              <a:t>만의</a:t>
            </a:r>
            <a:r>
              <a:rPr dirty="0"/>
              <a:t> </a:t>
            </a:r>
            <a:r>
              <a:rPr dirty="0" err="1"/>
              <a:t>특별함</a:t>
            </a:r>
            <a:endParaRPr dirty="0"/>
          </a:p>
        </p:txBody>
      </p:sp>
      <p:sp>
        <p:nvSpPr>
          <p:cNvPr id="210" name="모멘텀 지표 + 뉴스 AI 분석하여 종합 추천 점수를 산출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b="1" dirty="0" err="1"/>
              <a:t>모멘텀</a:t>
            </a:r>
            <a:r>
              <a:rPr b="1" dirty="0"/>
              <a:t> </a:t>
            </a:r>
            <a:r>
              <a:rPr b="1" dirty="0" err="1"/>
              <a:t>지표</a:t>
            </a:r>
            <a:r>
              <a:rPr b="1" dirty="0"/>
              <a:t> + </a:t>
            </a:r>
            <a:r>
              <a:rPr b="1" dirty="0" err="1"/>
              <a:t>뉴스</a:t>
            </a:r>
            <a:r>
              <a:rPr b="1" dirty="0"/>
              <a:t> AI </a:t>
            </a:r>
            <a:r>
              <a:rPr b="1" dirty="0" err="1"/>
              <a:t>분석</a:t>
            </a:r>
            <a:r>
              <a:rPr dirty="0" err="1"/>
              <a:t>하여</a:t>
            </a:r>
            <a:r>
              <a:rPr dirty="0"/>
              <a:t> </a:t>
            </a:r>
            <a:r>
              <a:rPr dirty="0" err="1"/>
              <a:t>종합</a:t>
            </a:r>
            <a:r>
              <a:rPr dirty="0"/>
              <a:t> </a:t>
            </a:r>
            <a:r>
              <a:rPr dirty="0" err="1"/>
              <a:t>추천</a:t>
            </a:r>
            <a:r>
              <a:rPr dirty="0"/>
              <a:t> </a:t>
            </a:r>
            <a:r>
              <a:rPr dirty="0" err="1"/>
              <a:t>점수를</a:t>
            </a:r>
            <a:r>
              <a:rPr dirty="0"/>
              <a:t> </a:t>
            </a:r>
            <a:r>
              <a:rPr dirty="0" err="1"/>
              <a:t>산출</a:t>
            </a:r>
            <a:endParaRPr dirty="0"/>
          </a:p>
          <a:p>
            <a:pPr lvl="1"/>
            <a:r>
              <a:rPr dirty="0" err="1"/>
              <a:t>모멘텀</a:t>
            </a:r>
            <a:r>
              <a:rPr dirty="0"/>
              <a:t> </a:t>
            </a:r>
            <a:r>
              <a:rPr dirty="0" err="1"/>
              <a:t>지표</a:t>
            </a:r>
            <a:r>
              <a:rPr dirty="0"/>
              <a:t>: </a:t>
            </a:r>
            <a:r>
              <a:rPr dirty="0" err="1"/>
              <a:t>점수에서</a:t>
            </a:r>
            <a:r>
              <a:rPr dirty="0"/>
              <a:t> </a:t>
            </a:r>
            <a:r>
              <a:rPr dirty="0" err="1"/>
              <a:t>큰</a:t>
            </a:r>
            <a:r>
              <a:rPr dirty="0"/>
              <a:t> </a:t>
            </a:r>
            <a:r>
              <a:rPr dirty="0" err="1"/>
              <a:t>비율</a:t>
            </a:r>
            <a:r>
              <a:rPr dirty="0"/>
              <a:t> </a:t>
            </a:r>
            <a:r>
              <a:rPr dirty="0" err="1"/>
              <a:t>차지</a:t>
            </a:r>
            <a:r>
              <a:rPr dirty="0"/>
              <a:t> </a:t>
            </a:r>
            <a:r>
              <a:rPr b="1" dirty="0"/>
              <a:t>→ </a:t>
            </a:r>
            <a:r>
              <a:rPr b="1" dirty="0" err="1"/>
              <a:t>안정성</a:t>
            </a:r>
            <a:r>
              <a:rPr b="1" dirty="0"/>
              <a:t> </a:t>
            </a:r>
            <a:r>
              <a:rPr b="1" dirty="0" err="1"/>
              <a:t>확보</a:t>
            </a:r>
            <a:r>
              <a:rPr b="1" dirty="0"/>
              <a:t>, </a:t>
            </a:r>
            <a:r>
              <a:rPr b="1" dirty="0" err="1"/>
              <a:t>변동성</a:t>
            </a:r>
            <a:r>
              <a:rPr b="1" dirty="0"/>
              <a:t> </a:t>
            </a:r>
            <a:r>
              <a:rPr b="1" dirty="0" err="1"/>
              <a:t>보정</a:t>
            </a:r>
            <a:endParaRPr b="1" dirty="0"/>
          </a:p>
          <a:p>
            <a:pPr lvl="1"/>
            <a:r>
              <a:rPr dirty="0" err="1"/>
              <a:t>뉴스</a:t>
            </a:r>
            <a:r>
              <a:rPr dirty="0"/>
              <a:t> AI </a:t>
            </a:r>
            <a:r>
              <a:rPr dirty="0" err="1"/>
              <a:t>분석</a:t>
            </a:r>
            <a:r>
              <a:rPr dirty="0"/>
              <a:t>: </a:t>
            </a:r>
            <a:r>
              <a:rPr dirty="0" err="1"/>
              <a:t>긍정</a:t>
            </a:r>
            <a:r>
              <a:rPr dirty="0"/>
              <a:t>, </a:t>
            </a:r>
            <a:r>
              <a:rPr dirty="0" err="1"/>
              <a:t>부정</a:t>
            </a:r>
            <a:r>
              <a:rPr dirty="0"/>
              <a:t> </a:t>
            </a:r>
            <a:r>
              <a:rPr dirty="0" err="1"/>
              <a:t>등의</a:t>
            </a:r>
            <a:r>
              <a:rPr dirty="0"/>
              <a:t> </a:t>
            </a:r>
            <a:r>
              <a:rPr dirty="0" err="1"/>
              <a:t>감성</a:t>
            </a:r>
            <a:r>
              <a:rPr dirty="0"/>
              <a:t>(Sentiment)</a:t>
            </a:r>
            <a:r>
              <a:rPr dirty="0" err="1"/>
              <a:t>을</a:t>
            </a:r>
            <a:r>
              <a:rPr dirty="0"/>
              <a:t> </a:t>
            </a:r>
            <a:r>
              <a:rPr dirty="0" err="1"/>
              <a:t>AI모델을</a:t>
            </a:r>
            <a:r>
              <a:rPr dirty="0"/>
              <a:t> </a:t>
            </a:r>
            <a:r>
              <a:rPr dirty="0" err="1"/>
              <a:t>사용하여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  <a:p>
            <a:pPr lvl="1"/>
            <a:r>
              <a:rPr dirty="0" err="1"/>
              <a:t>사회</a:t>
            </a:r>
            <a:r>
              <a:rPr dirty="0"/>
              <a:t> </a:t>
            </a:r>
            <a:r>
              <a:rPr dirty="0" err="1"/>
              <a:t>상황에</a:t>
            </a:r>
            <a:r>
              <a:rPr dirty="0"/>
              <a:t> </a:t>
            </a:r>
            <a:r>
              <a:rPr dirty="0" err="1"/>
              <a:t>큰</a:t>
            </a:r>
            <a:r>
              <a:rPr dirty="0"/>
              <a:t> </a:t>
            </a:r>
            <a:r>
              <a:rPr dirty="0" err="1"/>
              <a:t>영향을</a:t>
            </a:r>
            <a:r>
              <a:rPr dirty="0"/>
              <a:t> </a:t>
            </a:r>
            <a:r>
              <a:rPr dirty="0" err="1"/>
              <a:t>받는</a:t>
            </a:r>
            <a:r>
              <a:rPr dirty="0"/>
              <a:t> </a:t>
            </a:r>
            <a:r>
              <a:rPr dirty="0" err="1"/>
              <a:t>주식</a:t>
            </a:r>
            <a:r>
              <a:rPr dirty="0"/>
              <a:t> </a:t>
            </a:r>
            <a:r>
              <a:rPr dirty="0" err="1"/>
              <a:t>시장의</a:t>
            </a:r>
            <a:r>
              <a:rPr dirty="0"/>
              <a:t> </a:t>
            </a:r>
            <a:r>
              <a:rPr dirty="0" err="1"/>
              <a:t>특성</a:t>
            </a:r>
            <a:r>
              <a:rPr dirty="0"/>
              <a:t> </a:t>
            </a:r>
            <a:r>
              <a:rPr b="1" dirty="0"/>
              <a:t>→ </a:t>
            </a:r>
            <a:r>
              <a:rPr b="1" dirty="0" err="1"/>
              <a:t>시장</a:t>
            </a:r>
            <a:r>
              <a:rPr b="1" dirty="0"/>
              <a:t> </a:t>
            </a:r>
            <a:r>
              <a:rPr b="1" dirty="0" err="1"/>
              <a:t>심리</a:t>
            </a:r>
            <a:r>
              <a:rPr b="1" dirty="0"/>
              <a:t> </a:t>
            </a:r>
            <a:r>
              <a:rPr b="1" dirty="0" err="1"/>
              <a:t>반영</a:t>
            </a:r>
            <a:endParaRPr b="1"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3. Friendantial 만의 특별함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/>
              <a:t>3. </a:t>
            </a:r>
            <a:r>
              <a:rPr dirty="0" err="1"/>
              <a:t>Friendantial</a:t>
            </a:r>
            <a:r>
              <a:rPr dirty="0"/>
              <a:t> </a:t>
            </a:r>
            <a:r>
              <a:rPr dirty="0" err="1"/>
              <a:t>만의</a:t>
            </a:r>
            <a:r>
              <a:rPr dirty="0"/>
              <a:t> </a:t>
            </a:r>
            <a:r>
              <a:rPr dirty="0" err="1"/>
              <a:t>특별함</a:t>
            </a:r>
            <a:endParaRPr dirty="0"/>
          </a:p>
        </p:txBody>
      </p:sp>
      <p:sp>
        <p:nvSpPr>
          <p:cNvPr id="214" name="스토리성: “아침을 여는 AI 금융 친구” 라는 컨셉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b="1" dirty="0" err="1"/>
              <a:t>스토리성</a:t>
            </a:r>
            <a:r>
              <a:rPr dirty="0"/>
              <a:t>: “</a:t>
            </a:r>
            <a:r>
              <a:rPr dirty="0" err="1"/>
              <a:t>아침을</a:t>
            </a:r>
            <a:r>
              <a:rPr dirty="0"/>
              <a:t> </a:t>
            </a:r>
            <a:r>
              <a:rPr dirty="0" err="1"/>
              <a:t>여는</a:t>
            </a:r>
            <a:r>
              <a:rPr dirty="0"/>
              <a:t> AI </a:t>
            </a:r>
            <a:r>
              <a:rPr dirty="0" err="1"/>
              <a:t>금융</a:t>
            </a:r>
            <a:r>
              <a:rPr dirty="0"/>
              <a:t> </a:t>
            </a:r>
            <a:r>
              <a:rPr dirty="0" err="1"/>
              <a:t>친구</a:t>
            </a:r>
            <a:r>
              <a:rPr dirty="0"/>
              <a:t>” </a:t>
            </a:r>
            <a:r>
              <a:rPr dirty="0" err="1"/>
              <a:t>라는</a:t>
            </a:r>
            <a:r>
              <a:rPr dirty="0"/>
              <a:t> </a:t>
            </a:r>
            <a:r>
              <a:rPr dirty="0" err="1"/>
              <a:t>컨셉</a:t>
            </a:r>
            <a:endParaRPr dirty="0"/>
          </a:p>
          <a:p>
            <a:pPr lvl="1"/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친밀감</a:t>
            </a:r>
            <a:r>
              <a:rPr dirty="0"/>
              <a:t> </a:t>
            </a:r>
            <a:r>
              <a:rPr dirty="0" err="1"/>
              <a:t>확보</a:t>
            </a:r>
            <a:endParaRPr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4. 아키텍쳐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/>
              <a:t>4. </a:t>
            </a:r>
            <a:r>
              <a:rPr dirty="0" err="1"/>
              <a:t>아키텍쳐</a:t>
            </a:r>
            <a:endParaRPr dirty="0"/>
          </a:p>
        </p:txBody>
      </p:sp>
      <p:sp>
        <p:nvSpPr>
          <p:cNvPr id="217" name="기본 동작 원리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동작</a:t>
            </a:r>
            <a:r>
              <a:rPr dirty="0"/>
              <a:t> </a:t>
            </a:r>
            <a:r>
              <a:rPr dirty="0" err="1"/>
              <a:t>원리</a:t>
            </a:r>
            <a:endParaRPr dirty="0"/>
          </a:p>
        </p:txBody>
      </p:sp>
      <p:sp>
        <p:nvSpPr>
          <p:cNvPr id="218" name="MCP…"/>
          <p:cNvSpPr/>
          <p:nvPr/>
        </p:nvSpPr>
        <p:spPr>
          <a:xfrm>
            <a:off x="2838277" y="6088033"/>
            <a:ext cx="4635041" cy="3295030"/>
          </a:xfrm>
          <a:prstGeom prst="roundRect">
            <a:avLst>
              <a:gd name="adj" fmla="val 15000"/>
            </a:avLst>
          </a:pr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5500" b="1"/>
            </a:pPr>
            <a:r>
              <a:rPr dirty="0">
                <a:latin typeface="NanumGothic" panose="020D0604000000000000" pitchFamily="34" charset="-127"/>
                <a:ea typeface="NanumGothic" panose="020D0604000000000000" pitchFamily="34" charset="-127"/>
              </a:rPr>
              <a:t>MCP 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  <a:defRPr sz="5500" b="1"/>
            </a:pPr>
            <a:r>
              <a:rPr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클라이언트</a:t>
            </a:r>
            <a:endParaRPr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9" name="MCP 서버"/>
          <p:cNvSpPr/>
          <p:nvPr/>
        </p:nvSpPr>
        <p:spPr>
          <a:xfrm>
            <a:off x="9874480" y="6088033"/>
            <a:ext cx="4635040" cy="3295030"/>
          </a:xfrm>
          <a:prstGeom prst="roundRect">
            <a:avLst>
              <a:gd name="adj" fmla="val 15000"/>
            </a:avLst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5500" b="1"/>
            </a:lvl1pPr>
          </a:lstStyle>
          <a:p>
            <a:r>
              <a:rPr dirty="0">
                <a:latin typeface="NanumGothic" panose="020D0604000000000000" pitchFamily="34" charset="-127"/>
                <a:ea typeface="NanumGothic" panose="020D0604000000000000" pitchFamily="34" charset="-127"/>
              </a:rPr>
              <a:t>MCP </a:t>
            </a:r>
            <a:r>
              <a:rPr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서버</a:t>
            </a:r>
            <a:endParaRPr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0" name="Tools"/>
          <p:cNvSpPr/>
          <p:nvPr/>
        </p:nvSpPr>
        <p:spPr>
          <a:xfrm>
            <a:off x="16910682" y="6088033"/>
            <a:ext cx="4635041" cy="3295030"/>
          </a:xfrm>
          <a:prstGeom prst="roundRect">
            <a:avLst>
              <a:gd name="adj" fmla="val 15000"/>
            </a:avLst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5500" b="1"/>
            </a:lvl1pPr>
          </a:lstStyle>
          <a:p>
            <a:r>
              <a:rPr dirty="0">
                <a:latin typeface="NanumGothic" panose="020D0604000000000000" pitchFamily="34" charset="-127"/>
                <a:ea typeface="NanumGothic" panose="020D0604000000000000" pitchFamily="34" charset="-127"/>
              </a:rPr>
              <a:t>Tools</a:t>
            </a:r>
          </a:p>
        </p:txBody>
      </p:sp>
      <p:sp>
        <p:nvSpPr>
          <p:cNvPr id="221" name="양방향 화살표"/>
          <p:cNvSpPr/>
          <p:nvPr/>
        </p:nvSpPr>
        <p:spPr>
          <a:xfrm>
            <a:off x="7975398" y="7412810"/>
            <a:ext cx="1397001" cy="645476"/>
          </a:xfrm>
          <a:prstGeom prst="leftRightArrow">
            <a:avLst>
              <a:gd name="adj1" fmla="val 32000"/>
              <a:gd name="adj2" fmla="val 86572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22" name="양방향 화살표"/>
          <p:cNvSpPr/>
          <p:nvPr/>
        </p:nvSpPr>
        <p:spPr>
          <a:xfrm>
            <a:off x="15011601" y="7412810"/>
            <a:ext cx="1397001" cy="645476"/>
          </a:xfrm>
          <a:prstGeom prst="leftRightArrow">
            <a:avLst>
              <a:gd name="adj1" fmla="val 32000"/>
              <a:gd name="adj2" fmla="val 86572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4. 아키텍쳐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/>
              <a:t>4. </a:t>
            </a:r>
            <a:r>
              <a:rPr dirty="0" err="1"/>
              <a:t>아키텍쳐</a:t>
            </a:r>
            <a:endParaRPr dirty="0"/>
          </a:p>
        </p:txBody>
      </p:sp>
      <p:sp>
        <p:nvSpPr>
          <p:cNvPr id="225" name="Tools 구성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dirty="0"/>
              <a:t>Tools </a:t>
            </a:r>
            <a:r>
              <a:rPr dirty="0" err="1"/>
              <a:t>구성</a:t>
            </a:r>
            <a:endParaRPr dirty="0"/>
          </a:p>
        </p:txBody>
      </p:sp>
      <p:sp>
        <p:nvSpPr>
          <p:cNvPr id="226" name="MarketData Tool: 시세 수집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b="1" dirty="0" err="1"/>
              <a:t>MarketData</a:t>
            </a:r>
            <a:r>
              <a:rPr b="1" dirty="0"/>
              <a:t> Tool</a:t>
            </a:r>
            <a:r>
              <a:rPr dirty="0"/>
              <a:t>: </a:t>
            </a:r>
            <a:r>
              <a:rPr dirty="0" err="1"/>
              <a:t>시세</a:t>
            </a:r>
            <a:r>
              <a:rPr dirty="0"/>
              <a:t> </a:t>
            </a:r>
            <a:r>
              <a:rPr dirty="0" err="1"/>
              <a:t>수집</a:t>
            </a:r>
            <a:endParaRPr dirty="0"/>
          </a:p>
          <a:p>
            <a:r>
              <a:rPr b="1" dirty="0"/>
              <a:t>Momentum Tool</a:t>
            </a:r>
            <a:r>
              <a:rPr dirty="0"/>
              <a:t>: </a:t>
            </a:r>
            <a:r>
              <a:rPr dirty="0" err="1"/>
              <a:t>지표</a:t>
            </a:r>
            <a:r>
              <a:rPr dirty="0"/>
              <a:t> </a:t>
            </a:r>
            <a:r>
              <a:rPr dirty="0" err="1"/>
              <a:t>계산</a:t>
            </a:r>
            <a:endParaRPr dirty="0"/>
          </a:p>
          <a:p>
            <a:r>
              <a:rPr b="1" dirty="0" err="1"/>
              <a:t>NewsSentimnet</a:t>
            </a:r>
            <a:r>
              <a:rPr b="1" dirty="0"/>
              <a:t> Tool</a:t>
            </a:r>
            <a:r>
              <a:rPr dirty="0"/>
              <a:t>: </a:t>
            </a:r>
            <a:r>
              <a:rPr dirty="0" err="1"/>
              <a:t>뉴스</a:t>
            </a:r>
            <a:r>
              <a:rPr dirty="0"/>
              <a:t> </a:t>
            </a:r>
            <a:r>
              <a:rPr dirty="0" err="1"/>
              <a:t>감성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  <a:p>
            <a:r>
              <a:rPr b="1" dirty="0"/>
              <a:t>Recommend Tool</a:t>
            </a:r>
            <a:r>
              <a:rPr dirty="0"/>
              <a:t>: </a:t>
            </a:r>
            <a:r>
              <a:rPr dirty="0" err="1"/>
              <a:t>상위</a:t>
            </a:r>
            <a:r>
              <a:rPr dirty="0"/>
              <a:t> 5개 </a:t>
            </a:r>
            <a:r>
              <a:rPr dirty="0" err="1"/>
              <a:t>종목</a:t>
            </a:r>
            <a:r>
              <a:rPr dirty="0"/>
              <a:t> </a:t>
            </a:r>
            <a:r>
              <a:rPr dirty="0" err="1"/>
              <a:t>산출</a:t>
            </a:r>
            <a:endParaRPr dirty="0"/>
          </a:p>
          <a:p>
            <a:r>
              <a:rPr b="1" dirty="0"/>
              <a:t>Report Tool</a:t>
            </a:r>
            <a:r>
              <a:rPr dirty="0"/>
              <a:t>: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리포트</a:t>
            </a:r>
            <a:r>
              <a:rPr dirty="0"/>
              <a:t> </a:t>
            </a:r>
            <a:r>
              <a:rPr dirty="0" err="1"/>
              <a:t>생성</a:t>
            </a:r>
            <a:endParaRPr dirty="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5. 기술 스택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/>
              <a:t>5. </a:t>
            </a:r>
            <a:r>
              <a:rPr dirty="0" err="1"/>
              <a:t>기술</a:t>
            </a:r>
            <a:r>
              <a:rPr dirty="0"/>
              <a:t> </a:t>
            </a:r>
            <a:r>
              <a:rPr dirty="0" err="1"/>
              <a:t>스택</a:t>
            </a:r>
            <a:endParaRPr dirty="0"/>
          </a:p>
        </p:txBody>
      </p:sp>
      <p:sp>
        <p:nvSpPr>
          <p:cNvPr id="230" name="백엔드: Python 3.10 slim, FastAPI, Unicor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b="1" dirty="0" err="1"/>
              <a:t>백엔드</a:t>
            </a:r>
            <a:r>
              <a:rPr dirty="0"/>
              <a:t>: Python 3.10 slim, </a:t>
            </a:r>
            <a:r>
              <a:rPr dirty="0" err="1"/>
              <a:t>FastAPI</a:t>
            </a:r>
            <a:r>
              <a:rPr dirty="0"/>
              <a:t>, Unicorn</a:t>
            </a:r>
          </a:p>
          <a:p>
            <a:r>
              <a:rPr b="1" dirty="0" err="1"/>
              <a:t>데이터</a:t>
            </a:r>
            <a:r>
              <a:rPr dirty="0"/>
              <a:t>: </a:t>
            </a:r>
            <a:r>
              <a:rPr dirty="0" err="1"/>
              <a:t>FinanceDataReader</a:t>
            </a:r>
            <a:r>
              <a:rPr dirty="0"/>
              <a:t> (</a:t>
            </a:r>
            <a:r>
              <a:rPr dirty="0" err="1"/>
              <a:t>변경</a:t>
            </a:r>
            <a:r>
              <a:rPr dirty="0"/>
              <a:t> </a:t>
            </a:r>
            <a:r>
              <a:rPr dirty="0" err="1"/>
              <a:t>예정</a:t>
            </a:r>
            <a:r>
              <a:rPr dirty="0"/>
              <a:t>), pandas, requests, </a:t>
            </a:r>
            <a:r>
              <a:rPr dirty="0" err="1"/>
              <a:t>BeautifulSoup</a:t>
            </a:r>
            <a:endParaRPr dirty="0"/>
          </a:p>
          <a:p>
            <a:r>
              <a:rPr b="1" dirty="0"/>
              <a:t>ML/NLP</a:t>
            </a:r>
            <a:r>
              <a:rPr dirty="0"/>
              <a:t>: transformers (</a:t>
            </a:r>
            <a:r>
              <a:rPr dirty="0" err="1"/>
              <a:t>xlm-roberta</a:t>
            </a:r>
            <a:r>
              <a:rPr dirty="0"/>
              <a:t>), torch</a:t>
            </a:r>
          </a:p>
          <a:p>
            <a:r>
              <a:rPr b="1" dirty="0" err="1"/>
              <a:t>인프라</a:t>
            </a:r>
            <a:r>
              <a:rPr dirty="0"/>
              <a:t>: </a:t>
            </a:r>
            <a:r>
              <a:rPr dirty="0" err="1"/>
              <a:t>Dockerfile</a:t>
            </a:r>
            <a:r>
              <a:rPr dirty="0"/>
              <a:t>, docker-compose (</a:t>
            </a:r>
            <a:r>
              <a:rPr dirty="0" err="1"/>
              <a:t>포트</a:t>
            </a:r>
            <a:r>
              <a:rPr dirty="0"/>
              <a:t> 8000,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재시작</a:t>
            </a:r>
            <a:r>
              <a:rPr dirty="0"/>
              <a:t>)</a:t>
            </a:r>
          </a:p>
          <a:p>
            <a:r>
              <a:rPr b="1" dirty="0" err="1"/>
              <a:t>연동</a:t>
            </a:r>
            <a:r>
              <a:rPr dirty="0"/>
              <a:t>: Claude MCP Client 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6. 핵심 구현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/>
              <a:t>6.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구현</a:t>
            </a:r>
            <a:endParaRPr dirty="0"/>
          </a:p>
        </p:txBody>
      </p:sp>
      <p:sp>
        <p:nvSpPr>
          <p:cNvPr id="234" name="엔드포인트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엔드포인트</a:t>
            </a:r>
            <a:endParaRPr dirty="0"/>
          </a:p>
          <a:p>
            <a:pPr lvl="1"/>
            <a:r>
              <a:rPr b="1" dirty="0"/>
              <a:t>/recommendations</a:t>
            </a:r>
            <a:r>
              <a:rPr dirty="0"/>
              <a:t>: </a:t>
            </a:r>
            <a:r>
              <a:rPr dirty="0" err="1"/>
              <a:t>상위</a:t>
            </a:r>
            <a:r>
              <a:rPr dirty="0"/>
              <a:t> 5개 </a:t>
            </a:r>
            <a:r>
              <a:rPr dirty="0" err="1"/>
              <a:t>종목</a:t>
            </a:r>
            <a:r>
              <a:rPr dirty="0"/>
              <a:t> + </a:t>
            </a:r>
            <a:r>
              <a:rPr dirty="0" err="1"/>
              <a:t>점수</a:t>
            </a:r>
            <a:r>
              <a:rPr dirty="0"/>
              <a:t> + </a:t>
            </a:r>
            <a:r>
              <a:rPr dirty="0" err="1"/>
              <a:t>상세</a:t>
            </a:r>
            <a:r>
              <a:rPr dirty="0"/>
              <a:t> </a:t>
            </a:r>
            <a:r>
              <a:rPr dirty="0" err="1"/>
              <a:t>점수</a:t>
            </a:r>
            <a:endParaRPr dirty="0"/>
          </a:p>
          <a:p>
            <a:pPr lvl="1"/>
            <a:r>
              <a:rPr b="1" dirty="0"/>
              <a:t>/health</a:t>
            </a:r>
            <a:r>
              <a:rPr dirty="0"/>
              <a:t>: </a:t>
            </a:r>
            <a:r>
              <a:rPr dirty="0" err="1"/>
              <a:t>서버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6. 핵심 구현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/>
              <a:t>6.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구현</a:t>
            </a:r>
            <a:endParaRPr dirty="0"/>
          </a:p>
        </p:txBody>
      </p:sp>
      <p:sp>
        <p:nvSpPr>
          <p:cNvPr id="237" name="슬라이드 부제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8" name="모멘텀 점수 공식: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b="1" dirty="0" err="1"/>
                  <a:t>모멘텀</a:t>
                </a:r>
                <a:r>
                  <a:rPr b="1" dirty="0"/>
                  <a:t> </a:t>
                </a:r>
                <a:r>
                  <a:rPr b="1" dirty="0" err="1"/>
                  <a:t>점수</a:t>
                </a:r>
                <a:r>
                  <a:rPr b="1" dirty="0"/>
                  <a:t> </a:t>
                </a:r>
                <a:r>
                  <a:rPr b="1" dirty="0" err="1"/>
                  <a:t>공식</a:t>
                </a:r>
                <a:r>
                  <a:rPr dirty="0"/>
                  <a:t>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점수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ko-KR" i="1" dirty="0">
                        <a:solidFill>
                          <a:schemeClr val="accent5">
                            <a:lumOff val="-29866"/>
                          </a:schemeClr>
                        </a:solidFill>
                        <a:latin typeface="Cambria Math" panose="02040503050406030204" pitchFamily="18" charset="0"/>
                      </a:rPr>
                      <m:t>0.55 × </m:t>
                    </m:r>
                    <m:r>
                      <a:rPr lang="en-US" altLang="ko-KR" i="1" dirty="0">
                        <a:solidFill>
                          <a:schemeClr val="accent5">
                            <a:lumOff val="-29866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i="1" dirty="0">
                        <a:solidFill>
                          <a:schemeClr val="accent5">
                            <a:lumOff val="-29866"/>
                          </a:schemeClr>
                        </a:solidFill>
                        <a:latin typeface="Cambria Math" panose="02040503050406030204" pitchFamily="18" charset="0"/>
                      </a:rPr>
                      <m:t>5 + 0.30 × </m:t>
                    </m:r>
                    <m:r>
                      <a:rPr lang="en-US" altLang="ko-KR" i="1" dirty="0">
                        <a:solidFill>
                          <a:schemeClr val="accent5">
                            <a:lumOff val="-29866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i="1" dirty="0">
                        <a:solidFill>
                          <a:schemeClr val="accent5">
                            <a:lumOff val="-29866"/>
                          </a:schemeClr>
                        </a:solidFill>
                        <a:latin typeface="Cambria Math" panose="02040503050406030204" pitchFamily="18" charset="0"/>
                      </a:rPr>
                      <m:t>20 + 0.15 × </m:t>
                    </m:r>
                    <m:r>
                      <a:rPr lang="en-US" altLang="ko-KR" i="1" dirty="0">
                        <a:solidFill>
                          <a:schemeClr val="accent5">
                            <a:lumOff val="-29866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i="1" dirty="0">
                        <a:solidFill>
                          <a:schemeClr val="accent5">
                            <a:lumOff val="-29866"/>
                          </a:schemeClr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solidFill>
                          <a:schemeClr val="accent1">
                            <a:lumOff val="-13575"/>
                          </a:schemeClr>
                        </a:solidFill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US" altLang="ko-KR" i="1" dirty="0">
                        <a:solidFill>
                          <a:schemeClr val="accent1">
                            <a:lumOff val="-13575"/>
                          </a:schemeClr>
                        </a:solidFill>
                        <a:latin typeface="Cambria Math" panose="02040503050406030204" pitchFamily="18" charset="0"/>
                      </a:rPr>
                      <m:t>0.5 × </m:t>
                    </m:r>
                    <m:r>
                      <a:rPr lang="ko-KR" altLang="en-US" i="1" dirty="0" err="1">
                        <a:solidFill>
                          <a:schemeClr val="accent1">
                            <a:lumOff val="-13575"/>
                          </a:schemeClr>
                        </a:solidFill>
                        <a:latin typeface="Cambria Math" panose="02040503050406030204" pitchFamily="18" charset="0"/>
                      </a:rPr>
                      <m:t>변동성</m:t>
                    </m:r>
                  </m:oMath>
                </a14:m>
              </a:p>
              <a:p>
                <a:pPr lvl="1"/>
                <a:r>
                  <a:rPr dirty="0"/>
                  <a:t>m5: 5일선, m20: 20일선, m60: 60일선</a:t>
                </a:r>
              </a:p>
              <a:p>
                <a:r>
                  <a:rPr b="1" dirty="0" err="1"/>
                  <a:t>뉴스</a:t>
                </a:r>
                <a:r>
                  <a:rPr b="1" dirty="0"/>
                  <a:t> </a:t>
                </a:r>
                <a:r>
                  <a:rPr b="1" dirty="0" err="1"/>
                  <a:t>감성</a:t>
                </a:r>
                <a:r>
                  <a:rPr b="1" dirty="0"/>
                  <a:t> </a:t>
                </a:r>
                <a:r>
                  <a:rPr b="1" dirty="0" err="1"/>
                  <a:t>보정</a:t>
                </a:r>
                <a:endParaRPr b="1" dirty="0"/>
              </a:p>
              <a:p>
                <a:pPr lvl="1"/>
                <a:r>
                  <a:rPr dirty="0" err="1"/>
                  <a:t>최종</a:t>
                </a:r>
                <a:r>
                  <a:rPr dirty="0"/>
                  <a:t> </a:t>
                </a:r>
                <a:r>
                  <a:rPr dirty="0" err="1"/>
                  <a:t>점수에</a:t>
                </a:r>
                <a:r>
                  <a:rPr dirty="0"/>
                  <a:t> </a:t>
                </a:r>
                <a:r>
                  <a:rPr dirty="0" err="1"/>
                  <a:t>가중치</a:t>
                </a:r>
                <a:r>
                  <a:rPr dirty="0"/>
                  <a:t> ±20% </a:t>
                </a:r>
                <a:r>
                  <a:rPr dirty="0" err="1"/>
                  <a:t>반영</a:t>
                </a:r>
                <a:endParaRPr dirty="0"/>
              </a:p>
            </p:txBody>
          </p:sp>
        </mc:Choice>
        <mc:Fallback>
          <p:sp>
            <p:nvSpPr>
              <p:cNvPr id="238" name="모멘텀 점수 공식: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1792" t="-41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7. 구현 현황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/>
              <a:t>7. 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현황</a:t>
            </a:r>
            <a:endParaRPr dirty="0"/>
          </a:p>
        </p:txBody>
      </p:sp>
      <p:sp>
        <p:nvSpPr>
          <p:cNvPr id="241" name="슬라이드 부제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242" name="데모 서버 실행  (Docker, 포트 8000)…"/>
          <p:cNvSpPr txBox="1">
            <a:spLocks noGrp="1"/>
          </p:cNvSpPr>
          <p:nvPr>
            <p:ph type="body" sz="half" idx="1"/>
          </p:nvPr>
        </p:nvSpPr>
        <p:spPr>
          <a:xfrm>
            <a:off x="1206500" y="4248504"/>
            <a:ext cx="10345492" cy="8256012"/>
          </a:xfrm>
          <a:prstGeom prst="rect">
            <a:avLst/>
          </a:prstGeom>
        </p:spPr>
        <p:txBody>
          <a:bodyPr/>
          <a:lstStyle/>
          <a:p>
            <a:r>
              <a:rPr b="1" dirty="0" err="1"/>
              <a:t>데모</a:t>
            </a:r>
            <a:r>
              <a:rPr b="1" dirty="0"/>
              <a:t> </a:t>
            </a:r>
            <a:r>
              <a:rPr b="1" dirty="0" err="1"/>
              <a:t>서버</a:t>
            </a:r>
            <a:r>
              <a:rPr b="1" dirty="0"/>
              <a:t> </a:t>
            </a:r>
            <a:r>
              <a:rPr b="1" dirty="0" err="1"/>
              <a:t>실행</a:t>
            </a:r>
            <a:r>
              <a:rPr b="1" dirty="0"/>
              <a:t> </a:t>
            </a:r>
            <a:br>
              <a:rPr dirty="0"/>
            </a:br>
            <a:r>
              <a:rPr dirty="0"/>
              <a:t>(Docker, </a:t>
            </a:r>
            <a:r>
              <a:rPr dirty="0" err="1"/>
              <a:t>포트</a:t>
            </a:r>
            <a:r>
              <a:rPr dirty="0"/>
              <a:t> 8000)</a:t>
            </a:r>
          </a:p>
          <a:p>
            <a:r>
              <a:rPr dirty="0" err="1"/>
              <a:t>FinancialDataReader로</a:t>
            </a:r>
            <a:r>
              <a:rPr dirty="0"/>
              <a:t> </a:t>
            </a:r>
            <a:r>
              <a:rPr dirty="0" err="1"/>
              <a:t>종목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수집</a:t>
            </a:r>
            <a:endParaRPr dirty="0"/>
          </a:p>
          <a:p>
            <a:r>
              <a:rPr dirty="0"/>
              <a:t>5/20/60일선 </a:t>
            </a:r>
            <a:r>
              <a:rPr dirty="0" err="1"/>
              <a:t>수익률</a:t>
            </a:r>
            <a:r>
              <a:rPr dirty="0"/>
              <a:t> </a:t>
            </a:r>
            <a:r>
              <a:rPr dirty="0" err="1"/>
              <a:t>변동성</a:t>
            </a:r>
            <a:r>
              <a:rPr dirty="0"/>
              <a:t> </a:t>
            </a:r>
            <a:r>
              <a:rPr dirty="0" err="1"/>
              <a:t>계산</a:t>
            </a:r>
            <a:endParaRPr dirty="0"/>
          </a:p>
          <a:p>
            <a:r>
              <a:rPr dirty="0" err="1"/>
              <a:t>구글</a:t>
            </a:r>
            <a:r>
              <a:rPr dirty="0"/>
              <a:t>(RSS)</a:t>
            </a:r>
            <a:r>
              <a:rPr dirty="0" err="1"/>
              <a:t>에서</a:t>
            </a:r>
            <a:r>
              <a:rPr dirty="0"/>
              <a:t> </a:t>
            </a:r>
            <a:r>
              <a:rPr dirty="0" err="1"/>
              <a:t>뉴스</a:t>
            </a:r>
            <a:r>
              <a:rPr dirty="0"/>
              <a:t> 3건 </a:t>
            </a:r>
            <a:r>
              <a:rPr dirty="0" err="1"/>
              <a:t>수집하여</a:t>
            </a:r>
            <a:r>
              <a:rPr dirty="0"/>
              <a:t> </a:t>
            </a:r>
            <a:br>
              <a:rPr dirty="0"/>
            </a:br>
            <a:r>
              <a:rPr dirty="0" err="1"/>
              <a:t>감성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  <a:p>
            <a:r>
              <a:rPr dirty="0" err="1"/>
              <a:t>점수</a:t>
            </a:r>
            <a:r>
              <a:rPr dirty="0"/>
              <a:t> </a:t>
            </a:r>
            <a:r>
              <a:rPr dirty="0" err="1"/>
              <a:t>종합하여</a:t>
            </a:r>
            <a:r>
              <a:rPr dirty="0"/>
              <a:t> </a:t>
            </a:r>
            <a:r>
              <a:rPr dirty="0" err="1"/>
              <a:t>상위</a:t>
            </a:r>
            <a:r>
              <a:rPr dirty="0"/>
              <a:t> 5개 </a:t>
            </a:r>
            <a:r>
              <a:rPr dirty="0" err="1"/>
              <a:t>종목</a:t>
            </a:r>
            <a:r>
              <a:rPr dirty="0"/>
              <a:t> </a:t>
            </a:r>
            <a:r>
              <a:rPr dirty="0" err="1"/>
              <a:t>추천</a:t>
            </a:r>
            <a:endParaRPr dirty="0"/>
          </a:p>
        </p:txBody>
      </p:sp>
      <p:pic>
        <p:nvPicPr>
          <p:cNvPr id="243" name="스크린샷 2025-09-18 오후 3.54.58.png" descr="스크린샷 2025-09-18 오후 3.54.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9410" y="2943094"/>
            <a:ext cx="11465367" cy="926945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종목 정보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dirty="0" err="1"/>
              <a:t>종목</a:t>
            </a:r>
            <a:r>
              <a:rPr dirty="0"/>
              <a:t> </a:t>
            </a:r>
            <a:r>
              <a:rPr dirty="0" err="1"/>
              <a:t>정보</a:t>
            </a:r>
            <a:endParaRPr dirty="0"/>
          </a:p>
        </p:txBody>
      </p:sp>
      <p:sp>
        <p:nvSpPr>
          <p:cNvPr id="246" name="종목 코드 및 이름…"/>
          <p:cNvSpPr txBox="1">
            <a:spLocks noGrp="1"/>
          </p:cNvSpPr>
          <p:nvPr>
            <p:ph type="body" sz="half" idx="1"/>
          </p:nvPr>
        </p:nvSpPr>
        <p:spPr>
          <a:xfrm>
            <a:off x="1206500" y="4248504"/>
            <a:ext cx="8341450" cy="8256012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종목</a:t>
            </a:r>
            <a:r>
              <a:rPr dirty="0"/>
              <a:t> </a:t>
            </a:r>
            <a:r>
              <a:rPr dirty="0" err="1"/>
              <a:t>코드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이름</a:t>
            </a:r>
            <a:endParaRPr dirty="0"/>
          </a:p>
          <a:p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추천</a:t>
            </a:r>
            <a:r>
              <a:rPr dirty="0"/>
              <a:t> </a:t>
            </a:r>
            <a:r>
              <a:rPr dirty="0" err="1"/>
              <a:t>점수</a:t>
            </a:r>
            <a:endParaRPr dirty="0"/>
          </a:p>
        </p:txBody>
      </p:sp>
      <p:sp>
        <p:nvSpPr>
          <p:cNvPr id="247" name="8. 구현 세부사항 (데모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/>
              <a:t>8. 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세부사항</a:t>
            </a:r>
            <a:endParaRPr dirty="0"/>
          </a:p>
        </p:txBody>
      </p:sp>
      <p:pic>
        <p:nvPicPr>
          <p:cNvPr id="248" name="스크린샷 2025-09-18 오후 4.11.35.png" descr="스크린샷 2025-09-18 오후 4.11.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7962" y="8416075"/>
            <a:ext cx="8598141" cy="34913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스크린샷 2025-09-18 오후 4.12.34.png" descr="스크린샷 2025-09-18 오후 4.12.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6754" y="3059678"/>
            <a:ext cx="9306797" cy="4666507"/>
          </a:xfrm>
          <a:prstGeom prst="rect">
            <a:avLst/>
          </a:prstGeom>
          <a:ln w="12700">
            <a:miter lim="400000"/>
          </a:ln>
        </p:spPr>
      </p:pic>
      <p:sp>
        <p:nvSpPr>
          <p:cNvPr id="250" name="모서리가 둥근 직사각형"/>
          <p:cNvSpPr/>
          <p:nvPr/>
        </p:nvSpPr>
        <p:spPr>
          <a:xfrm>
            <a:off x="12888944" y="3131532"/>
            <a:ext cx="5596602" cy="2356326"/>
          </a:xfrm>
          <a:prstGeom prst="roundRect">
            <a:avLst>
              <a:gd name="adj" fmla="val 20143"/>
            </a:avLst>
          </a:prstGeom>
          <a:ln w="762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51" name="모서리가 둥근 직사각형"/>
          <p:cNvSpPr/>
          <p:nvPr/>
        </p:nvSpPr>
        <p:spPr>
          <a:xfrm>
            <a:off x="12905709" y="8483675"/>
            <a:ext cx="4663258" cy="1252722"/>
          </a:xfrm>
          <a:prstGeom prst="roundRect">
            <a:avLst>
              <a:gd name="adj" fmla="val 33927"/>
            </a:avLst>
          </a:prstGeom>
          <a:ln w="762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수치 데이터"/>
          <p:cNvSpPr txBox="1">
            <a:spLocks noGrp="1"/>
          </p:cNvSpPr>
          <p:nvPr>
            <p:ph type="body" idx="21"/>
          </p:nvPr>
        </p:nvSpPr>
        <p:spPr>
          <a:xfrm>
            <a:off x="1206500" y="2360262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dirty="0" err="1"/>
              <a:t>수치</a:t>
            </a:r>
            <a:r>
              <a:rPr dirty="0"/>
              <a:t> </a:t>
            </a:r>
            <a:r>
              <a:rPr dirty="0" err="1"/>
              <a:t>데이터</a:t>
            </a:r>
            <a:endParaRPr dirty="0"/>
          </a:p>
        </p:txBody>
      </p:sp>
      <p:sp>
        <p:nvSpPr>
          <p:cNvPr id="254" name="뉴스 가중치 및 점수…"/>
          <p:cNvSpPr txBox="1">
            <a:spLocks noGrp="1"/>
          </p:cNvSpPr>
          <p:nvPr>
            <p:ph type="body" sz="half" idx="1"/>
          </p:nvPr>
        </p:nvSpPr>
        <p:spPr>
          <a:xfrm>
            <a:off x="1206500" y="4248504"/>
            <a:ext cx="10426343" cy="8452445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뉴스</a:t>
            </a:r>
            <a:r>
              <a:rPr dirty="0"/>
              <a:t> </a:t>
            </a:r>
            <a:r>
              <a:rPr dirty="0" err="1"/>
              <a:t>가중치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점수</a:t>
            </a:r>
            <a:endParaRPr dirty="0"/>
          </a:p>
          <a:p>
            <a:r>
              <a:rPr dirty="0" err="1"/>
              <a:t>모멘텀</a:t>
            </a:r>
            <a:endParaRPr dirty="0"/>
          </a:p>
          <a:p>
            <a:r>
              <a:rPr dirty="0" err="1"/>
              <a:t>변동성</a:t>
            </a:r>
            <a:endParaRPr dirty="0"/>
          </a:p>
        </p:txBody>
      </p:sp>
      <p:pic>
        <p:nvPicPr>
          <p:cNvPr id="255" name="스크린샷 2025-09-18 오후 4.11.35.png" descr="스크린샷 2025-09-18 오후 4.11.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7962" y="8416075"/>
            <a:ext cx="8598141" cy="34913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56" name="스크린샷 2025-09-18 오후 4.12.34.png" descr="스크린샷 2025-09-18 오후 4.12.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6754" y="3059678"/>
            <a:ext cx="9306797" cy="4666507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모서리가 둥근 직사각형"/>
          <p:cNvSpPr/>
          <p:nvPr/>
        </p:nvSpPr>
        <p:spPr>
          <a:xfrm>
            <a:off x="13640809" y="5421219"/>
            <a:ext cx="8308341" cy="749995"/>
          </a:xfrm>
          <a:prstGeom prst="roundRect">
            <a:avLst>
              <a:gd name="adj" fmla="val 32502"/>
            </a:avLst>
          </a:prstGeom>
          <a:ln w="762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58" name="모서리가 둥근 직사각형"/>
          <p:cNvSpPr/>
          <p:nvPr/>
        </p:nvSpPr>
        <p:spPr>
          <a:xfrm>
            <a:off x="13096941" y="9674473"/>
            <a:ext cx="8180182" cy="858580"/>
          </a:xfrm>
          <a:prstGeom prst="roundRect">
            <a:avLst>
              <a:gd name="adj" fmla="val 28392"/>
            </a:avLst>
          </a:prstGeom>
          <a:ln w="762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8" name="8. 구현 세부사항 (데모)">
            <a:extLst>
              <a:ext uri="{FF2B5EF4-FFF2-40B4-BE49-F238E27FC236}">
                <a16:creationId xmlns:a16="http://schemas.microsoft.com/office/drawing/2014/main" id="{59418422-E9F5-3426-D3AB-5EAD746834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/>
              <a:t>8. 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세부사항</a:t>
            </a:r>
            <a:endParaRPr dirty="0"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수치 데이터"/>
          <p:cNvSpPr txBox="1">
            <a:spLocks noGrp="1"/>
          </p:cNvSpPr>
          <p:nvPr>
            <p:ph type="body" idx="21"/>
          </p:nvPr>
        </p:nvSpPr>
        <p:spPr>
          <a:xfrm>
            <a:off x="1206500" y="2360262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dirty="0" err="1"/>
              <a:t>수치</a:t>
            </a:r>
            <a:r>
              <a:rPr dirty="0"/>
              <a:t> </a:t>
            </a:r>
            <a:r>
              <a:rPr dirty="0" err="1"/>
              <a:t>데이터</a:t>
            </a:r>
            <a:endParaRPr dirty="0"/>
          </a:p>
        </p:txBody>
      </p:sp>
      <p:sp>
        <p:nvSpPr>
          <p:cNvPr id="262" name="이동평균선…"/>
          <p:cNvSpPr txBox="1">
            <a:spLocks noGrp="1"/>
          </p:cNvSpPr>
          <p:nvPr>
            <p:ph type="body" sz="half" idx="1"/>
          </p:nvPr>
        </p:nvSpPr>
        <p:spPr>
          <a:xfrm>
            <a:off x="1206500" y="4248504"/>
            <a:ext cx="10426343" cy="8452445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이동평균선</a:t>
            </a:r>
            <a:endParaRPr dirty="0"/>
          </a:p>
          <a:p>
            <a:pPr lvl="1"/>
            <a:r>
              <a:rPr dirty="0"/>
              <a:t>5일선</a:t>
            </a:r>
          </a:p>
          <a:p>
            <a:pPr lvl="1"/>
            <a:r>
              <a:rPr dirty="0"/>
              <a:t>20일선</a:t>
            </a:r>
          </a:p>
          <a:p>
            <a:pPr lvl="1"/>
            <a:r>
              <a:rPr dirty="0"/>
              <a:t>60일선</a:t>
            </a:r>
          </a:p>
        </p:txBody>
      </p:sp>
      <p:pic>
        <p:nvPicPr>
          <p:cNvPr id="263" name="스크린샷 2025-09-18 오후 4.11.35.png" descr="스크린샷 2025-09-18 오후 4.11.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7962" y="8416075"/>
            <a:ext cx="8598141" cy="34913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스크린샷 2025-09-18 오후 4.12.34.png" descr="스크린샷 2025-09-18 오후 4.12.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6754" y="3059678"/>
            <a:ext cx="9306797" cy="4666507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모서리가 둥근 직사각형"/>
          <p:cNvSpPr/>
          <p:nvPr/>
        </p:nvSpPr>
        <p:spPr>
          <a:xfrm>
            <a:off x="13610817" y="6491604"/>
            <a:ext cx="5131120" cy="1219706"/>
          </a:xfrm>
          <a:prstGeom prst="roundRect">
            <a:avLst>
              <a:gd name="adj" fmla="val 19986"/>
            </a:avLst>
          </a:prstGeom>
          <a:ln w="762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66" name="모서리가 둥근 직사각형"/>
          <p:cNvSpPr/>
          <p:nvPr/>
        </p:nvSpPr>
        <p:spPr>
          <a:xfrm>
            <a:off x="12926062" y="10633023"/>
            <a:ext cx="5028462" cy="1219705"/>
          </a:xfrm>
          <a:prstGeom prst="roundRect">
            <a:avLst>
              <a:gd name="adj" fmla="val 19986"/>
            </a:avLst>
          </a:prstGeom>
          <a:ln w="762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8. 구현 세부사항 (데모)">
            <a:extLst>
              <a:ext uri="{FF2B5EF4-FFF2-40B4-BE49-F238E27FC236}">
                <a16:creationId xmlns:a16="http://schemas.microsoft.com/office/drawing/2014/main" id="{4336F35C-7C23-2F7E-B141-9C7F795C20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/>
              <a:t>8. 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세부사항</a:t>
            </a:r>
            <a:endParaRPr dirty="0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최신 뉴스 3건 수집…"/>
          <p:cNvSpPr txBox="1">
            <a:spLocks noGrp="1"/>
          </p:cNvSpPr>
          <p:nvPr>
            <p:ph type="body" sz="quarter" idx="1"/>
          </p:nvPr>
        </p:nvSpPr>
        <p:spPr>
          <a:xfrm>
            <a:off x="1206500" y="4774551"/>
            <a:ext cx="7334224" cy="825601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최신</a:t>
            </a:r>
            <a:r>
              <a:rPr dirty="0"/>
              <a:t> </a:t>
            </a:r>
            <a:r>
              <a:rPr dirty="0" err="1"/>
              <a:t>뉴스</a:t>
            </a:r>
            <a:r>
              <a:rPr dirty="0"/>
              <a:t> 3건 </a:t>
            </a:r>
            <a:r>
              <a:rPr dirty="0" err="1"/>
              <a:t>수집</a:t>
            </a:r>
            <a:endParaRPr dirty="0"/>
          </a:p>
          <a:p>
            <a:r>
              <a:rPr dirty="0" err="1"/>
              <a:t>뉴스</a:t>
            </a:r>
            <a:r>
              <a:rPr dirty="0"/>
              <a:t> </a:t>
            </a:r>
            <a:r>
              <a:rPr dirty="0" err="1"/>
              <a:t>제목에서</a:t>
            </a:r>
            <a:r>
              <a:rPr dirty="0"/>
              <a:t> </a:t>
            </a:r>
            <a:r>
              <a:rPr dirty="0" err="1"/>
              <a:t>감성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</p:txBody>
      </p:sp>
      <p:pic>
        <p:nvPicPr>
          <p:cNvPr id="270" name="스크린샷 2025-09-18 오후 3.54.58.png" descr="스크린샷 2025-09-18 오후 3.54.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5289" y="2992821"/>
            <a:ext cx="12780358" cy="10332595"/>
          </a:xfrm>
          <a:prstGeom prst="rect">
            <a:avLst/>
          </a:prstGeom>
          <a:ln w="12700">
            <a:miter lim="400000"/>
          </a:ln>
        </p:spPr>
      </p:pic>
      <p:sp>
        <p:nvSpPr>
          <p:cNvPr id="271" name="모서리가 둥근 직사각형"/>
          <p:cNvSpPr/>
          <p:nvPr/>
        </p:nvSpPr>
        <p:spPr>
          <a:xfrm>
            <a:off x="10534363" y="6388854"/>
            <a:ext cx="11902209" cy="6812822"/>
          </a:xfrm>
          <a:prstGeom prst="roundRect">
            <a:avLst>
              <a:gd name="adj" fmla="val 9514"/>
            </a:avLst>
          </a:prstGeom>
          <a:ln w="762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73" name="뉴스 AI분석"/>
          <p:cNvSpPr txBox="1"/>
          <p:nvPr/>
        </p:nvSpPr>
        <p:spPr>
          <a:xfrm>
            <a:off x="1206500" y="2372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defTabSz="792479">
              <a:lnSpc>
                <a:spcPct val="100000"/>
              </a:lnSpc>
              <a:spcBef>
                <a:spcPts val="0"/>
              </a:spcBef>
              <a:defRPr sz="5280" b="1"/>
            </a:lvl1pPr>
          </a:lstStyle>
          <a:p>
            <a:r>
              <a:rPr b="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뉴스</a:t>
            </a:r>
            <a:r>
              <a:rPr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b="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AI분석</a:t>
            </a:r>
            <a:endParaRPr b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8. 구현 세부사항 (데모)">
            <a:extLst>
              <a:ext uri="{FF2B5EF4-FFF2-40B4-BE49-F238E27FC236}">
                <a16:creationId xmlns:a16="http://schemas.microsoft.com/office/drawing/2014/main" id="{0234EE47-A1DF-8014-C626-4467F98AD4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/>
              <a:t>8. 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세부사항</a:t>
            </a:r>
            <a:endParaRPr dirty="0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뉴스 AI분석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dirty="0" err="1"/>
              <a:t>뉴스</a:t>
            </a:r>
            <a:r>
              <a:rPr dirty="0"/>
              <a:t> </a:t>
            </a:r>
            <a:r>
              <a:rPr dirty="0" err="1"/>
              <a:t>AI분석</a:t>
            </a:r>
            <a:endParaRPr dirty="0"/>
          </a:p>
        </p:txBody>
      </p:sp>
      <p:sp>
        <p:nvSpPr>
          <p:cNvPr id="276" name="“호재”, “중립”, “악재”  세 가지 태그 부여…"/>
          <p:cNvSpPr txBox="1">
            <a:spLocks noGrp="1"/>
          </p:cNvSpPr>
          <p:nvPr>
            <p:ph type="body" sz="quarter" idx="1"/>
          </p:nvPr>
        </p:nvSpPr>
        <p:spPr>
          <a:xfrm>
            <a:off x="1206500" y="4774551"/>
            <a:ext cx="7070764" cy="8256011"/>
          </a:xfrm>
          <a:prstGeom prst="rect">
            <a:avLst/>
          </a:prstGeom>
        </p:spPr>
        <p:txBody>
          <a:bodyPr/>
          <a:lstStyle/>
          <a:p>
            <a:r>
              <a:rPr dirty="0"/>
              <a:t>“</a:t>
            </a:r>
            <a:r>
              <a:rPr dirty="0" err="1"/>
              <a:t>호재</a:t>
            </a:r>
            <a:r>
              <a:rPr dirty="0"/>
              <a:t>”, “</a:t>
            </a:r>
            <a:r>
              <a:rPr dirty="0" err="1"/>
              <a:t>중립</a:t>
            </a:r>
            <a:r>
              <a:rPr dirty="0"/>
              <a:t>”, “</a:t>
            </a:r>
            <a:r>
              <a:rPr dirty="0" err="1"/>
              <a:t>악재</a:t>
            </a:r>
            <a:r>
              <a:rPr dirty="0"/>
              <a:t>” </a:t>
            </a:r>
            <a:br>
              <a:rPr dirty="0"/>
            </a:br>
            <a:r>
              <a:rPr dirty="0" err="1"/>
              <a:t>세</a:t>
            </a:r>
            <a:r>
              <a:rPr dirty="0"/>
              <a:t> </a:t>
            </a:r>
            <a:r>
              <a:rPr dirty="0" err="1"/>
              <a:t>가지</a:t>
            </a:r>
            <a:r>
              <a:rPr dirty="0"/>
              <a:t> </a:t>
            </a:r>
            <a:r>
              <a:rPr b="1" dirty="0" err="1"/>
              <a:t>태그</a:t>
            </a:r>
            <a:r>
              <a:rPr b="1" dirty="0"/>
              <a:t> </a:t>
            </a:r>
            <a:r>
              <a:rPr b="1" dirty="0" err="1"/>
              <a:t>부여</a:t>
            </a:r>
            <a:endParaRPr b="1" dirty="0"/>
          </a:p>
          <a:p>
            <a:r>
              <a:rPr dirty="0" err="1"/>
              <a:t>각</a:t>
            </a:r>
            <a:r>
              <a:rPr dirty="0"/>
              <a:t> </a:t>
            </a:r>
            <a:r>
              <a:rPr dirty="0" err="1"/>
              <a:t>뉴스</a:t>
            </a:r>
            <a:r>
              <a:rPr dirty="0"/>
              <a:t> </a:t>
            </a:r>
            <a:r>
              <a:rPr dirty="0" err="1"/>
              <a:t>태그를</a:t>
            </a:r>
            <a:r>
              <a:rPr dirty="0"/>
              <a:t> </a:t>
            </a:r>
            <a:r>
              <a:rPr dirty="0" err="1"/>
              <a:t>종합하여</a:t>
            </a:r>
            <a:r>
              <a:rPr dirty="0"/>
              <a:t> </a:t>
            </a:r>
            <a:r>
              <a:rPr b="1" dirty="0" err="1"/>
              <a:t>최종</a:t>
            </a:r>
            <a:r>
              <a:rPr b="1" dirty="0"/>
              <a:t> </a:t>
            </a:r>
            <a:r>
              <a:rPr b="1" dirty="0" err="1"/>
              <a:t>태그</a:t>
            </a:r>
            <a:r>
              <a:rPr dirty="0" err="1"/>
              <a:t>를</a:t>
            </a:r>
            <a:r>
              <a:rPr dirty="0"/>
              <a:t> </a:t>
            </a:r>
            <a:r>
              <a:rPr dirty="0" err="1"/>
              <a:t>매김</a:t>
            </a:r>
            <a:endParaRPr dirty="0"/>
          </a:p>
        </p:txBody>
      </p:sp>
      <p:pic>
        <p:nvPicPr>
          <p:cNvPr id="277" name="스크린샷 2025-09-18 오후 3.54.58.png" descr="스크린샷 2025-09-18 오후 3.54.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968" y="2991142"/>
            <a:ext cx="12780359" cy="10332595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모서리가 둥근 직사각형"/>
          <p:cNvSpPr/>
          <p:nvPr/>
        </p:nvSpPr>
        <p:spPr>
          <a:xfrm>
            <a:off x="10555489" y="6169459"/>
            <a:ext cx="5441633" cy="1245746"/>
          </a:xfrm>
          <a:prstGeom prst="roundRect">
            <a:avLst>
              <a:gd name="adj" fmla="val 23787"/>
            </a:avLst>
          </a:prstGeom>
          <a:ln w="762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79" name="모서리가 둥근 직사각형"/>
          <p:cNvSpPr/>
          <p:nvPr/>
        </p:nvSpPr>
        <p:spPr>
          <a:xfrm>
            <a:off x="12335311" y="7708704"/>
            <a:ext cx="1205904" cy="564270"/>
          </a:xfrm>
          <a:prstGeom prst="roundRect">
            <a:avLst>
              <a:gd name="adj" fmla="val 29230"/>
            </a:avLst>
          </a:prstGeom>
          <a:ln w="762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80" name="모서리가 둥근 직사각형"/>
          <p:cNvSpPr/>
          <p:nvPr/>
        </p:nvSpPr>
        <p:spPr>
          <a:xfrm>
            <a:off x="12335311" y="9819092"/>
            <a:ext cx="1205904" cy="564271"/>
          </a:xfrm>
          <a:prstGeom prst="roundRect">
            <a:avLst>
              <a:gd name="adj" fmla="val 29230"/>
            </a:avLst>
          </a:prstGeom>
          <a:ln w="762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81" name="모서리가 둥근 직사각형"/>
          <p:cNvSpPr/>
          <p:nvPr/>
        </p:nvSpPr>
        <p:spPr>
          <a:xfrm>
            <a:off x="12335311" y="11954880"/>
            <a:ext cx="1205904" cy="564270"/>
          </a:xfrm>
          <a:prstGeom prst="roundRect">
            <a:avLst>
              <a:gd name="adj" fmla="val 29230"/>
            </a:avLst>
          </a:prstGeom>
          <a:ln w="762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8. 구현 세부사항 (데모)">
            <a:extLst>
              <a:ext uri="{FF2B5EF4-FFF2-40B4-BE49-F238E27FC236}">
                <a16:creationId xmlns:a16="http://schemas.microsoft.com/office/drawing/2014/main" id="{EC5C79FF-E1EE-EAA1-5F35-EED0132652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/>
              <a:t>8. 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세부사항</a:t>
            </a:r>
            <a:endParaRPr dirty="0"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별점(Star Rating)을 추가하여 사용자가 알아보기 쉽도록 구성…"/>
          <p:cNvSpPr txBox="1">
            <a:spLocks noGrp="1"/>
          </p:cNvSpPr>
          <p:nvPr>
            <p:ph type="body" sz="half" idx="1"/>
          </p:nvPr>
        </p:nvSpPr>
        <p:spPr>
          <a:xfrm>
            <a:off x="992605" y="4267949"/>
            <a:ext cx="20994899" cy="3724490"/>
          </a:xfrm>
          <a:prstGeom prst="rect">
            <a:avLst/>
          </a:prstGeom>
        </p:spPr>
        <p:txBody>
          <a:bodyPr/>
          <a:lstStyle/>
          <a:p>
            <a:r>
              <a:rPr b="1" dirty="0" err="1"/>
              <a:t>별점</a:t>
            </a:r>
            <a:r>
              <a:rPr b="1" dirty="0"/>
              <a:t>(Star Rating)</a:t>
            </a:r>
            <a:r>
              <a:rPr dirty="0" err="1"/>
              <a:t>을</a:t>
            </a:r>
            <a:r>
              <a:rPr dirty="0"/>
              <a:t> </a:t>
            </a:r>
            <a:r>
              <a:rPr dirty="0" err="1"/>
              <a:t>추가하여</a:t>
            </a:r>
            <a:r>
              <a:rPr dirty="0"/>
              <a:t> </a:t>
            </a:r>
            <a:r>
              <a:rPr dirty="0" err="1"/>
              <a:t>사용자가</a:t>
            </a:r>
            <a:r>
              <a:rPr dirty="0"/>
              <a:t> </a:t>
            </a:r>
            <a:r>
              <a:rPr dirty="0" err="1"/>
              <a:t>알아보기</a:t>
            </a:r>
            <a:r>
              <a:rPr dirty="0"/>
              <a:t> </a:t>
            </a:r>
            <a:r>
              <a:rPr dirty="0" err="1"/>
              <a:t>쉽도록</a:t>
            </a:r>
            <a:r>
              <a:rPr dirty="0"/>
              <a:t> </a:t>
            </a:r>
            <a:r>
              <a:rPr dirty="0" err="1"/>
              <a:t>구성</a:t>
            </a:r>
            <a:endParaRPr dirty="0"/>
          </a:p>
          <a:p>
            <a:r>
              <a:rPr dirty="0" err="1"/>
              <a:t>호재일수록</a:t>
            </a:r>
            <a:r>
              <a:rPr dirty="0"/>
              <a:t> </a:t>
            </a:r>
            <a:r>
              <a:rPr dirty="0" err="1"/>
              <a:t>높은</a:t>
            </a:r>
            <a:r>
              <a:rPr dirty="0"/>
              <a:t> </a:t>
            </a:r>
            <a:r>
              <a:rPr dirty="0" err="1"/>
              <a:t>등급</a:t>
            </a:r>
            <a:r>
              <a:rPr dirty="0"/>
              <a:t> </a:t>
            </a:r>
            <a:r>
              <a:rPr dirty="0" err="1"/>
              <a:t>부여</a:t>
            </a:r>
            <a:endParaRPr dirty="0"/>
          </a:p>
          <a:p>
            <a:r>
              <a:rPr dirty="0" err="1"/>
              <a:t>중립</a:t>
            </a:r>
            <a:r>
              <a:rPr lang="ko-KR" altLang="en-US" dirty="0"/>
              <a:t>∙</a:t>
            </a:r>
            <a:r>
              <a:rPr dirty="0" err="1"/>
              <a:t>악재일수록</a:t>
            </a:r>
            <a:r>
              <a:rPr dirty="0"/>
              <a:t> </a:t>
            </a:r>
            <a:r>
              <a:rPr dirty="0" err="1"/>
              <a:t>낮은</a:t>
            </a:r>
            <a:r>
              <a:rPr dirty="0"/>
              <a:t> </a:t>
            </a:r>
            <a:r>
              <a:rPr dirty="0" err="1"/>
              <a:t>등급</a:t>
            </a:r>
            <a:r>
              <a:rPr dirty="0"/>
              <a:t> </a:t>
            </a:r>
            <a:r>
              <a:rPr dirty="0" err="1"/>
              <a:t>부여</a:t>
            </a:r>
            <a:endParaRPr dirty="0"/>
          </a:p>
        </p:txBody>
      </p:sp>
      <p:pic>
        <p:nvPicPr>
          <p:cNvPr id="285" name="스크린샷 2025-09-18 오후 4.12.13.png" descr="스크린샷 2025-09-18 오후 4.12.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74" y="8303202"/>
            <a:ext cx="12862452" cy="219871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" name="스크린샷 2025-09-18 오후 4.12.23.png" descr="스크린샷 2025-09-18 오후 4.12.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0230" y="10820008"/>
            <a:ext cx="10743063" cy="2198711"/>
          </a:xfrm>
          <a:prstGeom prst="rect">
            <a:avLst/>
          </a:prstGeom>
          <a:ln w="12700">
            <a:miter lim="400000"/>
          </a:ln>
        </p:spPr>
      </p:pic>
      <p:sp>
        <p:nvSpPr>
          <p:cNvPr id="287" name="타원형"/>
          <p:cNvSpPr/>
          <p:nvPr/>
        </p:nvSpPr>
        <p:spPr>
          <a:xfrm>
            <a:off x="9301894" y="12034525"/>
            <a:ext cx="1836441" cy="658486"/>
          </a:xfrm>
          <a:prstGeom prst="ellipse">
            <a:avLst/>
          </a:prstGeom>
          <a:ln w="889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88" name="타원형"/>
          <p:cNvSpPr/>
          <p:nvPr/>
        </p:nvSpPr>
        <p:spPr>
          <a:xfrm>
            <a:off x="8211049" y="9565840"/>
            <a:ext cx="1836441" cy="658486"/>
          </a:xfrm>
          <a:prstGeom prst="ellipse">
            <a:avLst/>
          </a:prstGeom>
          <a:ln w="889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89" name="타원형"/>
          <p:cNvSpPr/>
          <p:nvPr/>
        </p:nvSpPr>
        <p:spPr>
          <a:xfrm>
            <a:off x="7204910" y="8745854"/>
            <a:ext cx="1270001" cy="658486"/>
          </a:xfrm>
          <a:prstGeom prst="ellipse">
            <a:avLst/>
          </a:prstGeom>
          <a:ln w="889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90" name="타원형"/>
          <p:cNvSpPr/>
          <p:nvPr/>
        </p:nvSpPr>
        <p:spPr>
          <a:xfrm>
            <a:off x="8352163" y="11254256"/>
            <a:ext cx="1270001" cy="658486"/>
          </a:xfrm>
          <a:prstGeom prst="ellipse">
            <a:avLst/>
          </a:prstGeom>
          <a:ln w="889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92" name="뉴스 AI분석"/>
          <p:cNvSpPr txBox="1"/>
          <p:nvPr/>
        </p:nvSpPr>
        <p:spPr>
          <a:xfrm>
            <a:off x="1206500" y="2372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defTabSz="792479">
              <a:lnSpc>
                <a:spcPct val="100000"/>
              </a:lnSpc>
              <a:spcBef>
                <a:spcPts val="0"/>
              </a:spcBef>
              <a:defRPr sz="5280" b="1"/>
            </a:lvl1pPr>
          </a:lstStyle>
          <a:p>
            <a:r>
              <a:rPr b="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뉴스</a:t>
            </a:r>
            <a:r>
              <a:rPr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b="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AI분석</a:t>
            </a:r>
            <a:endParaRPr b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8. 구현 세부사항 (데모)">
            <a:extLst>
              <a:ext uri="{FF2B5EF4-FFF2-40B4-BE49-F238E27FC236}">
                <a16:creationId xmlns:a16="http://schemas.microsoft.com/office/drawing/2014/main" id="{39A92211-F403-C346-E96A-3C8E51DCE4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/>
              <a:t>8. 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세부사항</a:t>
            </a:r>
            <a:endParaRPr dirty="0"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슬라이드 부제"/>
          <p:cNvSpPr txBox="1">
            <a:spLocks noGrp="1"/>
          </p:cNvSpPr>
          <p:nvPr>
            <p:ph type="body" idx="21"/>
          </p:nvPr>
        </p:nvSpPr>
        <p:spPr>
          <a:xfrm>
            <a:off x="1206500" y="4103565"/>
            <a:ext cx="21971000" cy="93478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295" name="슬라이드 구분점 텍스트"/>
          <p:cNvSpPr txBox="1">
            <a:spLocks noGrp="1"/>
          </p:cNvSpPr>
          <p:nvPr>
            <p:ph type="body" idx="1"/>
          </p:nvPr>
        </p:nvSpPr>
        <p:spPr>
          <a:xfrm>
            <a:off x="1206500" y="6841796"/>
            <a:ext cx="21971000" cy="8256012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pic>
        <p:nvPicPr>
          <p:cNvPr id="296" name="스크린샷 2025-09-18 오후 4.13.38.png" descr="스크린샷 2025-09-18 오후 4.13.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436" y="6555692"/>
            <a:ext cx="17147128" cy="5791200"/>
          </a:xfrm>
          <a:prstGeom prst="rect">
            <a:avLst/>
          </a:prstGeom>
          <a:ln w="12700">
            <a:miter lim="400000"/>
          </a:ln>
        </p:spPr>
      </p:pic>
      <p:sp>
        <p:nvSpPr>
          <p:cNvPr id="297" name="타원형"/>
          <p:cNvSpPr/>
          <p:nvPr/>
        </p:nvSpPr>
        <p:spPr>
          <a:xfrm>
            <a:off x="6520751" y="7958879"/>
            <a:ext cx="1836442" cy="658486"/>
          </a:xfrm>
          <a:prstGeom prst="ellipse">
            <a:avLst/>
          </a:prstGeom>
          <a:ln w="889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98" name="타원형"/>
          <p:cNvSpPr/>
          <p:nvPr/>
        </p:nvSpPr>
        <p:spPr>
          <a:xfrm>
            <a:off x="6520751" y="11147855"/>
            <a:ext cx="1836442" cy="658486"/>
          </a:xfrm>
          <a:prstGeom prst="ellipse">
            <a:avLst/>
          </a:prstGeom>
          <a:ln w="889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299" name="스크린샷 2025-09-18 오후 4.12.04.png" descr="스크린샷 2025-09-18 오후 4.12.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116" y="3826500"/>
            <a:ext cx="17113768" cy="2304318"/>
          </a:xfrm>
          <a:prstGeom prst="rect">
            <a:avLst/>
          </a:prstGeom>
          <a:ln w="12700">
            <a:miter lim="400000"/>
          </a:ln>
        </p:spPr>
      </p:pic>
      <p:sp>
        <p:nvSpPr>
          <p:cNvPr id="300" name="타원형"/>
          <p:cNvSpPr/>
          <p:nvPr/>
        </p:nvSpPr>
        <p:spPr>
          <a:xfrm>
            <a:off x="5399687" y="10223672"/>
            <a:ext cx="1270001" cy="658486"/>
          </a:xfrm>
          <a:prstGeom prst="ellipse">
            <a:avLst/>
          </a:prstGeom>
          <a:ln w="889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01" name="타원형"/>
          <p:cNvSpPr/>
          <p:nvPr/>
        </p:nvSpPr>
        <p:spPr>
          <a:xfrm>
            <a:off x="6034486" y="5070236"/>
            <a:ext cx="1836442" cy="658486"/>
          </a:xfrm>
          <a:prstGeom prst="ellipse">
            <a:avLst/>
          </a:prstGeom>
          <a:ln w="889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02" name="타원형"/>
          <p:cNvSpPr/>
          <p:nvPr/>
        </p:nvSpPr>
        <p:spPr>
          <a:xfrm>
            <a:off x="5394157" y="7019626"/>
            <a:ext cx="1270001" cy="658486"/>
          </a:xfrm>
          <a:prstGeom prst="ellipse">
            <a:avLst/>
          </a:prstGeom>
          <a:ln w="889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03" name="타원형"/>
          <p:cNvSpPr/>
          <p:nvPr/>
        </p:nvSpPr>
        <p:spPr>
          <a:xfrm>
            <a:off x="5065962" y="4273510"/>
            <a:ext cx="1270001" cy="658486"/>
          </a:xfrm>
          <a:prstGeom prst="ellipse">
            <a:avLst/>
          </a:prstGeom>
          <a:ln w="889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8. 구현 세부사항 (데모)">
            <a:extLst>
              <a:ext uri="{FF2B5EF4-FFF2-40B4-BE49-F238E27FC236}">
                <a16:creationId xmlns:a16="http://schemas.microsoft.com/office/drawing/2014/main" id="{FCDCAB79-2264-463D-834E-C952581625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/>
              <a:t>8. 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세부사항</a:t>
            </a:r>
            <a:endParaRPr dirty="0"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9. 향후 성능 개선 및 기술적 목표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/>
              <a:t>9. </a:t>
            </a:r>
            <a:r>
              <a:rPr dirty="0" err="1"/>
              <a:t>향후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개선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기술적</a:t>
            </a:r>
            <a:r>
              <a:rPr dirty="0"/>
              <a:t> </a:t>
            </a:r>
            <a:r>
              <a:rPr dirty="0" err="1"/>
              <a:t>목표</a:t>
            </a:r>
            <a:endParaRPr dirty="0"/>
          </a:p>
        </p:txBody>
      </p:sp>
      <p:sp>
        <p:nvSpPr>
          <p:cNvPr id="307" name="슬라이드 부제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308" name="속도 향상 최적화 필요…"/>
          <p:cNvSpPr txBox="1">
            <a:spLocks noGrp="1"/>
          </p:cNvSpPr>
          <p:nvPr>
            <p:ph type="body" sz="half" idx="1"/>
          </p:nvPr>
        </p:nvSpPr>
        <p:spPr>
          <a:xfrm>
            <a:off x="1206500" y="4248504"/>
            <a:ext cx="21971000" cy="5018132"/>
          </a:xfrm>
          <a:prstGeom prst="rect">
            <a:avLst/>
          </a:prstGeom>
        </p:spPr>
        <p:txBody>
          <a:bodyPr/>
          <a:lstStyle/>
          <a:p>
            <a:r>
              <a:rPr b="1" dirty="0" err="1"/>
              <a:t>속도</a:t>
            </a:r>
            <a:r>
              <a:rPr b="1" dirty="0"/>
              <a:t> </a:t>
            </a:r>
            <a:r>
              <a:rPr b="1" dirty="0" err="1"/>
              <a:t>최적화</a:t>
            </a:r>
            <a:r>
              <a:rPr b="1" dirty="0"/>
              <a:t> </a:t>
            </a:r>
            <a:r>
              <a:rPr b="1" dirty="0" err="1"/>
              <a:t>필요</a:t>
            </a:r>
            <a:endParaRPr b="1" dirty="0"/>
          </a:p>
          <a:p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방식</a:t>
            </a:r>
            <a:r>
              <a:rPr dirty="0"/>
              <a:t>: </a:t>
            </a:r>
            <a:r>
              <a:rPr dirty="0" err="1"/>
              <a:t>FinanceDataReader</a:t>
            </a:r>
            <a:r>
              <a:rPr dirty="0"/>
              <a:t> </a:t>
            </a:r>
            <a:r>
              <a:rPr dirty="0" err="1"/>
              <a:t>라이브러리에서</a:t>
            </a:r>
            <a:r>
              <a:rPr dirty="0"/>
              <a:t> </a:t>
            </a:r>
            <a:r>
              <a:rPr dirty="0" err="1"/>
              <a:t>데이터를</a:t>
            </a:r>
            <a:r>
              <a:rPr dirty="0"/>
              <a:t> </a:t>
            </a:r>
            <a:r>
              <a:rPr dirty="0" err="1"/>
              <a:t>읽어오는</a:t>
            </a:r>
            <a:r>
              <a:rPr dirty="0"/>
              <a:t> </a:t>
            </a:r>
            <a:r>
              <a:rPr dirty="0" err="1"/>
              <a:t>방식</a:t>
            </a:r>
            <a:endParaRPr dirty="0"/>
          </a:p>
          <a:p>
            <a:r>
              <a:rPr dirty="0" err="1"/>
              <a:t>변경</a:t>
            </a:r>
            <a:r>
              <a:rPr dirty="0"/>
              <a:t> </a:t>
            </a:r>
            <a:r>
              <a:rPr dirty="0" err="1"/>
              <a:t>계획</a:t>
            </a:r>
            <a:r>
              <a:rPr dirty="0"/>
              <a:t>: </a:t>
            </a:r>
            <a:r>
              <a:rPr dirty="0" err="1"/>
              <a:t>공식</a:t>
            </a:r>
            <a:r>
              <a:rPr dirty="0"/>
              <a:t> </a:t>
            </a:r>
            <a:r>
              <a:rPr dirty="0" err="1"/>
              <a:t>API를</a:t>
            </a:r>
            <a:r>
              <a:rPr dirty="0"/>
              <a:t> </a:t>
            </a:r>
            <a:r>
              <a:rPr dirty="0" err="1"/>
              <a:t>받아오는</a:t>
            </a:r>
            <a:r>
              <a:rPr dirty="0"/>
              <a:t> </a:t>
            </a:r>
            <a:r>
              <a:rPr dirty="0" err="1"/>
              <a:t>방식</a:t>
            </a:r>
            <a:r>
              <a:rPr dirty="0"/>
              <a:t> → </a:t>
            </a:r>
            <a:r>
              <a:rPr dirty="0" err="1"/>
              <a:t>작동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</a:t>
            </a:r>
            <a:r>
              <a:rPr dirty="0" err="1"/>
              <a:t>크게</a:t>
            </a:r>
            <a:r>
              <a:rPr dirty="0"/>
              <a:t> </a:t>
            </a:r>
            <a:r>
              <a:rPr dirty="0" err="1"/>
              <a:t>단축될</a:t>
            </a:r>
            <a:r>
              <a:rPr dirty="0"/>
              <a:t> </a:t>
            </a:r>
            <a:r>
              <a:rPr dirty="0" err="1"/>
              <a:t>것으로</a:t>
            </a:r>
            <a:r>
              <a:rPr dirty="0"/>
              <a:t> </a:t>
            </a:r>
            <a:r>
              <a:rPr dirty="0" err="1"/>
              <a:t>예상</a:t>
            </a:r>
            <a:endParaRPr dirty="0"/>
          </a:p>
        </p:txBody>
      </p:sp>
      <p:pic>
        <p:nvPicPr>
          <p:cNvPr id="309" name="스크린샷 2025-09-18 오후 3.55.40.png" descr="스크린샷 2025-09-18 오후 3.55.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832" y="9426844"/>
            <a:ext cx="15658740" cy="1940696"/>
          </a:xfrm>
          <a:prstGeom prst="rect">
            <a:avLst/>
          </a:prstGeom>
          <a:ln w="12700">
            <a:miter lim="400000"/>
          </a:ln>
        </p:spPr>
      </p:pic>
      <p:sp>
        <p:nvSpPr>
          <p:cNvPr id="310" name="모서리가 둥근 직사각형"/>
          <p:cNvSpPr/>
          <p:nvPr/>
        </p:nvSpPr>
        <p:spPr>
          <a:xfrm>
            <a:off x="10017744" y="10499287"/>
            <a:ext cx="2130972" cy="858580"/>
          </a:xfrm>
          <a:prstGeom prst="roundRect">
            <a:avLst>
              <a:gd name="adj" fmla="val 29230"/>
            </a:avLst>
          </a:prstGeom>
          <a:ln w="762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9. 향후 성능 개선 및 기술적 목표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/>
              <a:t>9. </a:t>
            </a:r>
            <a:r>
              <a:rPr dirty="0" err="1"/>
              <a:t>향후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개선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기술적</a:t>
            </a:r>
            <a:r>
              <a:rPr dirty="0"/>
              <a:t> </a:t>
            </a:r>
            <a:r>
              <a:rPr dirty="0" err="1"/>
              <a:t>목표</a:t>
            </a:r>
            <a:endParaRPr dirty="0"/>
          </a:p>
        </p:txBody>
      </p:sp>
      <p:sp>
        <p:nvSpPr>
          <p:cNvPr id="313" name="슬라이드 부제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314" name="사용 지표 확장: 다양한 시장 지표 활용하여 정확성 높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b="1" dirty="0" err="1"/>
              <a:t>사용</a:t>
            </a:r>
            <a:r>
              <a:rPr b="1" dirty="0"/>
              <a:t> </a:t>
            </a:r>
            <a:r>
              <a:rPr b="1" dirty="0" err="1"/>
              <a:t>지표</a:t>
            </a:r>
            <a:r>
              <a:rPr b="1" dirty="0"/>
              <a:t> </a:t>
            </a:r>
            <a:r>
              <a:rPr b="1" dirty="0" err="1"/>
              <a:t>확장</a:t>
            </a:r>
            <a:r>
              <a:rPr dirty="0"/>
              <a:t>: </a:t>
            </a:r>
            <a:r>
              <a:rPr dirty="0" err="1"/>
              <a:t>다양한</a:t>
            </a:r>
            <a:r>
              <a:rPr dirty="0"/>
              <a:t> </a:t>
            </a:r>
            <a:r>
              <a:rPr dirty="0" err="1"/>
              <a:t>시장</a:t>
            </a:r>
            <a:r>
              <a:rPr dirty="0"/>
              <a:t> </a:t>
            </a:r>
            <a:r>
              <a:rPr dirty="0" err="1"/>
              <a:t>지표</a:t>
            </a:r>
            <a:r>
              <a:rPr dirty="0"/>
              <a:t> </a:t>
            </a:r>
            <a:r>
              <a:rPr dirty="0" err="1"/>
              <a:t>활용하여</a:t>
            </a:r>
            <a:r>
              <a:rPr dirty="0"/>
              <a:t> </a:t>
            </a:r>
            <a:r>
              <a:rPr dirty="0" err="1"/>
              <a:t>정확성</a:t>
            </a:r>
            <a:r>
              <a:rPr dirty="0"/>
              <a:t> </a:t>
            </a:r>
            <a:r>
              <a:rPr dirty="0" err="1"/>
              <a:t>높임</a:t>
            </a:r>
            <a:endParaRPr dirty="0"/>
          </a:p>
          <a:p>
            <a:r>
              <a:rPr b="1" dirty="0" err="1"/>
              <a:t>개인화</a:t>
            </a:r>
            <a:r>
              <a:rPr b="1" dirty="0"/>
              <a:t> </a:t>
            </a:r>
            <a:r>
              <a:rPr b="1" dirty="0" err="1"/>
              <a:t>추천</a:t>
            </a:r>
            <a:r>
              <a:rPr dirty="0"/>
              <a:t>: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포트폴리오</a:t>
            </a:r>
            <a:r>
              <a:rPr dirty="0"/>
              <a:t> </a:t>
            </a:r>
            <a:r>
              <a:rPr dirty="0" err="1"/>
              <a:t>기반으로</a:t>
            </a:r>
            <a:r>
              <a:rPr dirty="0"/>
              <a:t> </a:t>
            </a:r>
            <a:r>
              <a:rPr dirty="0" err="1"/>
              <a:t>수치</a:t>
            </a:r>
            <a:r>
              <a:rPr dirty="0"/>
              <a:t> </a:t>
            </a:r>
            <a:r>
              <a:rPr dirty="0" err="1"/>
              <a:t>파라미터</a:t>
            </a:r>
            <a:r>
              <a:rPr dirty="0"/>
              <a:t> </a:t>
            </a:r>
            <a:r>
              <a:rPr dirty="0" err="1"/>
              <a:t>조정</a:t>
            </a:r>
            <a:endParaRPr dirty="0"/>
          </a:p>
          <a:p>
            <a:pPr lvl="1"/>
            <a:r>
              <a:rPr dirty="0" err="1"/>
              <a:t>예</a:t>
            </a:r>
            <a:r>
              <a:rPr dirty="0"/>
              <a:t>) </a:t>
            </a:r>
            <a:r>
              <a:rPr dirty="0" err="1"/>
              <a:t>초급</a:t>
            </a:r>
            <a:r>
              <a:rPr dirty="0"/>
              <a:t> </a:t>
            </a:r>
            <a:r>
              <a:rPr dirty="0" err="1"/>
              <a:t>투자자일수록</a:t>
            </a:r>
            <a:r>
              <a:rPr dirty="0"/>
              <a:t> </a:t>
            </a:r>
            <a:r>
              <a:rPr dirty="0" err="1"/>
              <a:t>변동성</a:t>
            </a:r>
            <a:r>
              <a:rPr dirty="0"/>
              <a:t> </a:t>
            </a:r>
            <a:r>
              <a:rPr dirty="0" err="1"/>
              <a:t>패널티</a:t>
            </a:r>
            <a:r>
              <a:rPr dirty="0"/>
              <a:t> </a:t>
            </a:r>
            <a:r>
              <a:rPr dirty="0" err="1"/>
              <a:t>큰</a:t>
            </a:r>
            <a:r>
              <a:rPr dirty="0"/>
              <a:t> </a:t>
            </a:r>
            <a:r>
              <a:rPr dirty="0" err="1"/>
              <a:t>값</a:t>
            </a:r>
            <a:r>
              <a:rPr dirty="0"/>
              <a:t> </a:t>
            </a:r>
            <a:r>
              <a:rPr dirty="0" err="1"/>
              <a:t>부여</a:t>
            </a:r>
            <a:endParaRPr dirty="0"/>
          </a:p>
          <a:p>
            <a:r>
              <a:rPr b="1" dirty="0" err="1"/>
              <a:t>뉴스</a:t>
            </a:r>
            <a:r>
              <a:rPr b="1" dirty="0"/>
              <a:t> </a:t>
            </a:r>
            <a:r>
              <a:rPr b="1" dirty="0" err="1"/>
              <a:t>필터링</a:t>
            </a:r>
            <a:r>
              <a:rPr dirty="0"/>
              <a:t>: </a:t>
            </a:r>
            <a:r>
              <a:rPr dirty="0" err="1"/>
              <a:t>대중성∙신뢰성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언론사</a:t>
            </a:r>
            <a:r>
              <a:rPr dirty="0"/>
              <a:t> </a:t>
            </a:r>
            <a:r>
              <a:rPr dirty="0" err="1"/>
              <a:t>위주</a:t>
            </a:r>
            <a:r>
              <a:rPr dirty="0"/>
              <a:t> </a:t>
            </a:r>
            <a:r>
              <a:rPr dirty="0" err="1"/>
              <a:t>뉴스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수집</a:t>
            </a:r>
            <a:endParaRPr dirty="0"/>
          </a:p>
          <a:p>
            <a:r>
              <a:rPr b="1" dirty="0"/>
              <a:t>UX </a:t>
            </a:r>
            <a:r>
              <a:rPr b="1" dirty="0" err="1"/>
              <a:t>개선</a:t>
            </a:r>
            <a:r>
              <a:rPr dirty="0"/>
              <a:t>: </a:t>
            </a:r>
            <a:r>
              <a:rPr dirty="0" err="1"/>
              <a:t>사용자가</a:t>
            </a:r>
            <a:r>
              <a:rPr dirty="0"/>
              <a:t> </a:t>
            </a:r>
            <a:r>
              <a:rPr dirty="0" err="1"/>
              <a:t>보기</a:t>
            </a:r>
            <a:r>
              <a:rPr dirty="0"/>
              <a:t> </a:t>
            </a:r>
            <a:r>
              <a:rPr dirty="0" err="1"/>
              <a:t>쉽도록</a:t>
            </a:r>
            <a:r>
              <a:rPr dirty="0"/>
              <a:t> </a:t>
            </a:r>
            <a:r>
              <a:rPr dirty="0" err="1"/>
              <a:t>서식화된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레포트</a:t>
            </a:r>
            <a:r>
              <a:rPr dirty="0"/>
              <a:t> </a:t>
            </a:r>
            <a:r>
              <a:rPr dirty="0" err="1"/>
              <a:t>제공</a:t>
            </a:r>
            <a:endParaRPr dirty="0"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10. 실사용 시나리오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/>
              <a:t>10. </a:t>
            </a:r>
            <a:r>
              <a:rPr dirty="0" err="1"/>
              <a:t>실사용</a:t>
            </a:r>
            <a:r>
              <a:rPr dirty="0"/>
              <a:t> </a:t>
            </a:r>
            <a:r>
              <a:rPr dirty="0" err="1"/>
              <a:t>시나리오</a:t>
            </a:r>
            <a:endParaRPr dirty="0"/>
          </a:p>
        </p:txBody>
      </p:sp>
      <p:sp>
        <p:nvSpPr>
          <p:cNvPr id="317" name="슬라이드 부제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318" name="사용자가 MCP Server Client(Claude) 통해 종목 추천 요청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사용자가</a:t>
            </a:r>
            <a:r>
              <a:rPr dirty="0"/>
              <a:t> MCP Server Client(Claude) </a:t>
            </a:r>
            <a:r>
              <a:rPr dirty="0" err="1"/>
              <a:t>통해</a:t>
            </a:r>
            <a:r>
              <a:rPr dirty="0"/>
              <a:t> </a:t>
            </a:r>
            <a:r>
              <a:rPr dirty="0" err="1"/>
              <a:t>종목</a:t>
            </a:r>
            <a:r>
              <a:rPr dirty="0"/>
              <a:t> </a:t>
            </a:r>
            <a:r>
              <a:rPr dirty="0" err="1"/>
              <a:t>추천</a:t>
            </a:r>
            <a:r>
              <a:rPr dirty="0"/>
              <a:t> </a:t>
            </a:r>
            <a:r>
              <a:rPr dirty="0" err="1"/>
              <a:t>요청</a:t>
            </a:r>
            <a:endParaRPr dirty="0"/>
          </a:p>
          <a:p>
            <a:r>
              <a:rPr dirty="0" err="1"/>
              <a:t>추천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: </a:t>
            </a:r>
            <a:r>
              <a:rPr dirty="0" err="1"/>
              <a:t>상위</a:t>
            </a:r>
            <a:r>
              <a:rPr dirty="0"/>
              <a:t> 5개 </a:t>
            </a:r>
            <a:r>
              <a:rPr dirty="0" err="1"/>
              <a:t>종목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추천</a:t>
            </a:r>
            <a:r>
              <a:rPr dirty="0"/>
              <a:t> </a:t>
            </a:r>
            <a:r>
              <a:rPr dirty="0" err="1"/>
              <a:t>근거</a:t>
            </a:r>
            <a:r>
              <a:rPr dirty="0"/>
              <a:t>(</a:t>
            </a:r>
            <a:r>
              <a:rPr dirty="0" err="1"/>
              <a:t>지표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뉴스</a:t>
            </a:r>
            <a:r>
              <a:rPr dirty="0"/>
              <a:t>) </a:t>
            </a:r>
            <a:r>
              <a:rPr dirty="0" err="1"/>
              <a:t>제시</a:t>
            </a:r>
            <a:endParaRPr dirty="0"/>
          </a:p>
          <a:p>
            <a:pPr lvl="1"/>
            <a:r>
              <a:rPr dirty="0" err="1"/>
              <a:t>초보</a:t>
            </a:r>
            <a:r>
              <a:rPr dirty="0"/>
              <a:t> </a:t>
            </a:r>
            <a:r>
              <a:rPr dirty="0" err="1"/>
              <a:t>투자자</a:t>
            </a:r>
            <a:r>
              <a:rPr dirty="0"/>
              <a:t>: </a:t>
            </a:r>
            <a:r>
              <a:rPr dirty="0" err="1"/>
              <a:t>추천</a:t>
            </a:r>
            <a:r>
              <a:rPr dirty="0"/>
              <a:t> </a:t>
            </a:r>
            <a:r>
              <a:rPr dirty="0" err="1"/>
              <a:t>받은</a:t>
            </a:r>
            <a:r>
              <a:rPr dirty="0"/>
              <a:t> </a:t>
            </a:r>
            <a:r>
              <a:rPr dirty="0" err="1"/>
              <a:t>종목</a:t>
            </a:r>
            <a:r>
              <a:rPr dirty="0"/>
              <a:t> </a:t>
            </a:r>
            <a:r>
              <a:rPr dirty="0" err="1"/>
              <a:t>바탕으로</a:t>
            </a:r>
            <a:r>
              <a:rPr dirty="0"/>
              <a:t> </a:t>
            </a:r>
            <a:r>
              <a:rPr dirty="0" err="1"/>
              <a:t>투자</a:t>
            </a:r>
            <a:r>
              <a:rPr dirty="0"/>
              <a:t> </a:t>
            </a:r>
            <a:r>
              <a:rPr dirty="0" err="1"/>
              <a:t>결정</a:t>
            </a:r>
            <a:endParaRPr dirty="0"/>
          </a:p>
          <a:p>
            <a:pPr lvl="1"/>
            <a:r>
              <a:rPr dirty="0" err="1"/>
              <a:t>중급</a:t>
            </a:r>
            <a:r>
              <a:rPr dirty="0"/>
              <a:t> </a:t>
            </a:r>
            <a:r>
              <a:rPr dirty="0" err="1"/>
              <a:t>투자자</a:t>
            </a:r>
            <a:r>
              <a:rPr dirty="0"/>
              <a:t>: </a:t>
            </a:r>
            <a:r>
              <a:rPr dirty="0" err="1"/>
              <a:t>포트폴리오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개인화된</a:t>
            </a:r>
            <a:r>
              <a:rPr dirty="0"/>
              <a:t> </a:t>
            </a:r>
            <a:r>
              <a:rPr dirty="0" err="1"/>
              <a:t>추천</a:t>
            </a:r>
            <a:r>
              <a:rPr dirty="0"/>
              <a:t> </a:t>
            </a:r>
            <a:r>
              <a:rPr dirty="0" err="1"/>
              <a:t>받도록</a:t>
            </a:r>
            <a:r>
              <a:rPr dirty="0"/>
              <a:t> </a:t>
            </a:r>
            <a:r>
              <a:rPr dirty="0" err="1"/>
              <a:t>함</a:t>
            </a:r>
            <a:endParaRPr dirty="0"/>
          </a:p>
          <a:p>
            <a:r>
              <a:rPr dirty="0" err="1"/>
              <a:t>추천</a:t>
            </a:r>
            <a:r>
              <a:rPr dirty="0"/>
              <a:t> API </a:t>
            </a:r>
            <a:r>
              <a:rPr dirty="0" err="1"/>
              <a:t>응답을</a:t>
            </a:r>
            <a:r>
              <a:rPr dirty="0"/>
              <a:t> </a:t>
            </a:r>
            <a:r>
              <a:rPr dirty="0" err="1"/>
              <a:t>바탕으로</a:t>
            </a:r>
            <a:r>
              <a:rPr dirty="0"/>
              <a:t> </a:t>
            </a:r>
            <a:r>
              <a:rPr dirty="0" err="1"/>
              <a:t>보고서</a:t>
            </a:r>
            <a:r>
              <a:rPr dirty="0"/>
              <a:t> </a:t>
            </a:r>
            <a:r>
              <a:rPr dirty="0" err="1"/>
              <a:t>제공</a:t>
            </a:r>
            <a:endParaRPr dirty="0"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11. 개발 마일스톤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/>
              <a:t>11. </a:t>
            </a:r>
            <a:r>
              <a:rPr dirty="0" err="1"/>
              <a:t>개발</a:t>
            </a:r>
            <a:r>
              <a:rPr dirty="0"/>
              <a:t> </a:t>
            </a:r>
            <a:r>
              <a:rPr dirty="0" err="1"/>
              <a:t>마일스톤</a:t>
            </a:r>
            <a:endParaRPr dirty="0"/>
          </a:p>
        </p:txBody>
      </p:sp>
      <p:sp>
        <p:nvSpPr>
          <p:cNvPr id="321" name="슬라이드 부제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grpSp>
        <p:nvGrpSpPr>
          <p:cNvPr id="324" name="FastAPI MCP Server + Docker 환경 구축"/>
          <p:cNvGrpSpPr/>
          <p:nvPr/>
        </p:nvGrpSpPr>
        <p:grpSpPr>
          <a:xfrm>
            <a:off x="6438607" y="3197935"/>
            <a:ext cx="11506787" cy="1292853"/>
            <a:chOff x="0" y="0"/>
            <a:chExt cx="11506785" cy="1292852"/>
          </a:xfrm>
        </p:grpSpPr>
        <p:sp>
          <p:nvSpPr>
            <p:cNvPr id="323" name="FastAPI MCP Server + Docker 환경 구축"/>
            <p:cNvSpPr/>
            <p:nvPr/>
          </p:nvSpPr>
          <p:spPr>
            <a:xfrm>
              <a:off x="50800" y="50800"/>
              <a:ext cx="11405185" cy="1191252"/>
            </a:xfrm>
            <a:prstGeom prst="roundRect">
              <a:avLst>
                <a:gd name="adj" fmla="val 15992"/>
              </a:avLst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/>
            </a:lstStyle>
            <a:p>
              <a:r>
                <a:rPr sz="4000" dirty="0" err="1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FastAPI</a:t>
              </a:r>
              <a:r>
                <a:rPr sz="40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MCP Server + Docker </a:t>
              </a:r>
              <a:r>
                <a:rPr sz="4000" dirty="0" err="1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환경</a:t>
              </a:r>
              <a:r>
                <a:rPr sz="40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4000" dirty="0" err="1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구축</a:t>
              </a:r>
              <a:endParaRPr sz="40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pic>
          <p:nvPicPr>
            <p:cNvPr id="322" name="FastAPI MCP Server + Docker 환경 구축 FastAPI MCP Server + Docker 환경 구축" descr="FastAPI MCP Server + Docker 환경 구축 FastAPI MCP Server + Docker 환경 구축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1506785" cy="1292852"/>
            </a:xfrm>
            <a:prstGeom prst="rect">
              <a:avLst/>
            </a:prstGeom>
            <a:effectLst/>
          </p:spPr>
        </p:pic>
      </p:grpSp>
      <p:grpSp>
        <p:nvGrpSpPr>
          <p:cNvPr id="327" name="시장 데이터를 API에서 받아오도록 변경"/>
          <p:cNvGrpSpPr/>
          <p:nvPr/>
        </p:nvGrpSpPr>
        <p:grpSpPr>
          <a:xfrm>
            <a:off x="6314410" y="6739947"/>
            <a:ext cx="11755180" cy="1292853"/>
            <a:chOff x="0" y="0"/>
            <a:chExt cx="11755179" cy="1292851"/>
          </a:xfrm>
        </p:grpSpPr>
        <p:sp>
          <p:nvSpPr>
            <p:cNvPr id="326" name="시장 데이터를 API에서 받아오도록 변경"/>
            <p:cNvSpPr/>
            <p:nvPr/>
          </p:nvSpPr>
          <p:spPr>
            <a:xfrm>
              <a:off x="50800" y="50800"/>
              <a:ext cx="11653580" cy="1191252"/>
            </a:xfrm>
            <a:prstGeom prst="roundRect">
              <a:avLst>
                <a:gd name="adj" fmla="val 15992"/>
              </a:avLst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/>
            </a:lstStyle>
            <a:p>
              <a:r>
                <a:rPr sz="400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시장</a:t>
              </a:r>
              <a:r>
                <a:rPr sz="4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400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데이터를</a:t>
              </a:r>
              <a:r>
                <a:rPr sz="4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400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API에서</a:t>
              </a:r>
              <a:r>
                <a:rPr sz="4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400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받아오도록</a:t>
              </a:r>
              <a:r>
                <a:rPr sz="4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400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변경</a:t>
              </a:r>
              <a:endParaRPr sz="400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pic>
          <p:nvPicPr>
            <p:cNvPr id="325" name="시장 데이터를 API에서 받아오도록 변경 시장 데이터를 API에서 받아오도록 변경" descr="시장 데이터를 API에서 받아오도록 변경 시장 데이터를 API에서 받아오도록 변경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1755180" cy="1292852"/>
            </a:xfrm>
            <a:prstGeom prst="rect">
              <a:avLst/>
            </a:prstGeom>
            <a:effectLst/>
          </p:spPr>
        </p:pic>
      </p:grpSp>
      <p:grpSp>
        <p:nvGrpSpPr>
          <p:cNvPr id="330" name="지표 확장 및 백테스트"/>
          <p:cNvGrpSpPr/>
          <p:nvPr/>
        </p:nvGrpSpPr>
        <p:grpSpPr>
          <a:xfrm>
            <a:off x="8683047" y="8510953"/>
            <a:ext cx="7017905" cy="1292853"/>
            <a:chOff x="0" y="0"/>
            <a:chExt cx="7017904" cy="1292851"/>
          </a:xfrm>
        </p:grpSpPr>
        <p:sp>
          <p:nvSpPr>
            <p:cNvPr id="329" name="지표 확장 및 백테스트"/>
            <p:cNvSpPr/>
            <p:nvPr/>
          </p:nvSpPr>
          <p:spPr>
            <a:xfrm>
              <a:off x="50800" y="50800"/>
              <a:ext cx="6916305" cy="1191252"/>
            </a:xfrm>
            <a:prstGeom prst="roundRect">
              <a:avLst>
                <a:gd name="adj" fmla="val 15992"/>
              </a:avLst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/>
            </a:lstStyle>
            <a:p>
              <a:r>
                <a:rPr sz="400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지표</a:t>
              </a:r>
              <a:r>
                <a:rPr sz="4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400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확장</a:t>
              </a:r>
              <a:r>
                <a:rPr sz="4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400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및</a:t>
              </a:r>
              <a:r>
                <a:rPr sz="4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400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백테스트</a:t>
              </a:r>
              <a:endParaRPr sz="400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pic>
          <p:nvPicPr>
            <p:cNvPr id="328" name="지표 확장 및 백테스트 지표 확장 및 백테스트" descr="지표 확장 및 백테스트 지표 확장 및 백테스트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7017905" cy="1292852"/>
            </a:xfrm>
            <a:prstGeom prst="rect">
              <a:avLst/>
            </a:prstGeom>
            <a:effectLst/>
          </p:spPr>
        </p:pic>
      </p:grpSp>
      <p:grpSp>
        <p:nvGrpSpPr>
          <p:cNvPr id="333" name="개인화 추천 구현 및 UX 개선"/>
          <p:cNvGrpSpPr/>
          <p:nvPr/>
        </p:nvGrpSpPr>
        <p:grpSpPr>
          <a:xfrm>
            <a:off x="8062087" y="10253847"/>
            <a:ext cx="8259825" cy="1292853"/>
            <a:chOff x="0" y="0"/>
            <a:chExt cx="8259823" cy="1292851"/>
          </a:xfrm>
        </p:grpSpPr>
        <p:sp>
          <p:nvSpPr>
            <p:cNvPr id="332" name="개인화 추천 구현 및 UX 개선"/>
            <p:cNvSpPr/>
            <p:nvPr/>
          </p:nvSpPr>
          <p:spPr>
            <a:xfrm>
              <a:off x="50800" y="50800"/>
              <a:ext cx="8158224" cy="1191252"/>
            </a:xfrm>
            <a:prstGeom prst="roundRect">
              <a:avLst>
                <a:gd name="adj" fmla="val 15992"/>
              </a:avLst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/>
            </a:lstStyle>
            <a:p>
              <a:r>
                <a:rPr sz="400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개인화</a:t>
              </a:r>
              <a:r>
                <a:rPr sz="4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400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추천</a:t>
              </a:r>
              <a:r>
                <a:rPr sz="4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400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구현</a:t>
              </a:r>
              <a:r>
                <a:rPr sz="4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400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및</a:t>
              </a:r>
              <a:r>
                <a:rPr sz="4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UX </a:t>
              </a:r>
              <a:r>
                <a:rPr sz="400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개선</a:t>
              </a:r>
              <a:endParaRPr sz="400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pic>
          <p:nvPicPr>
            <p:cNvPr id="331" name="개인화 추천 구현 및 UX 개선 개인화 추천 구현 및 UX 개선" descr="개인화 추천 구현 및 UX 개선 개인화 추천 구현 및 UX 개선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8259824" cy="1292852"/>
            </a:xfrm>
            <a:prstGeom prst="rect">
              <a:avLst/>
            </a:prstGeom>
            <a:effectLst/>
          </p:spPr>
        </p:pic>
      </p:grpSp>
      <p:grpSp>
        <p:nvGrpSpPr>
          <p:cNvPr id="336" name="클라우드 배포"/>
          <p:cNvGrpSpPr/>
          <p:nvPr/>
        </p:nvGrpSpPr>
        <p:grpSpPr>
          <a:xfrm>
            <a:off x="9430901" y="11996742"/>
            <a:ext cx="5522198" cy="1292852"/>
            <a:chOff x="0" y="0"/>
            <a:chExt cx="5522197" cy="1292851"/>
          </a:xfrm>
        </p:grpSpPr>
        <p:sp>
          <p:nvSpPr>
            <p:cNvPr id="335" name="클라우드 배포"/>
            <p:cNvSpPr/>
            <p:nvPr/>
          </p:nvSpPr>
          <p:spPr>
            <a:xfrm>
              <a:off x="50800" y="50800"/>
              <a:ext cx="5420598" cy="1191252"/>
            </a:xfrm>
            <a:prstGeom prst="roundRect">
              <a:avLst>
                <a:gd name="adj" fmla="val 15992"/>
              </a:avLst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/>
            </a:lstStyle>
            <a:p>
              <a:r>
                <a:rPr sz="400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클라우드</a:t>
              </a:r>
              <a:r>
                <a:rPr sz="4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400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배포</a:t>
              </a:r>
              <a:endParaRPr sz="400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pic>
          <p:nvPicPr>
            <p:cNvPr id="334" name="클라우드 배포 클라우드 배포" descr="클라우드 배포 클라우드 배포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5522198" cy="1292852"/>
            </a:xfrm>
            <a:prstGeom prst="rect">
              <a:avLst/>
            </a:prstGeom>
            <a:effectLst/>
          </p:spPr>
        </p:pic>
      </p:grpSp>
      <p:grpSp>
        <p:nvGrpSpPr>
          <p:cNvPr id="339" name="FDR(FinancialDataReader) 연동"/>
          <p:cNvGrpSpPr/>
          <p:nvPr/>
        </p:nvGrpSpPr>
        <p:grpSpPr>
          <a:xfrm>
            <a:off x="7407556" y="4968941"/>
            <a:ext cx="9568888" cy="1292852"/>
            <a:chOff x="0" y="0"/>
            <a:chExt cx="9568887" cy="1292851"/>
          </a:xfrm>
        </p:grpSpPr>
        <p:sp>
          <p:nvSpPr>
            <p:cNvPr id="338" name="FDR(FinancialDataReader) 연동"/>
            <p:cNvSpPr/>
            <p:nvPr/>
          </p:nvSpPr>
          <p:spPr>
            <a:xfrm>
              <a:off x="50800" y="50800"/>
              <a:ext cx="9467288" cy="1191252"/>
            </a:xfrm>
            <a:prstGeom prst="roundRect">
              <a:avLst>
                <a:gd name="adj" fmla="val 15992"/>
              </a:avLst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/>
            </a:lstStyle>
            <a:p>
              <a:r>
                <a:rPr sz="40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FDR(</a:t>
              </a:r>
              <a:r>
                <a:rPr sz="4000" dirty="0" err="1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FinancialDataReader</a:t>
              </a:r>
              <a:r>
                <a:rPr sz="40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) </a:t>
              </a:r>
              <a:r>
                <a:rPr sz="4000" dirty="0" err="1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연동</a:t>
              </a:r>
              <a:endParaRPr sz="40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pic>
          <p:nvPicPr>
            <p:cNvPr id="337" name="FDR(FinancialDataReader) 연동 FDR(FinancialDataReader) 연동" descr="FDR(FinancialDataReader) 연동 FDR(FinancialDataReader) 연동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9568888" cy="1292852"/>
            </a:xfrm>
            <a:prstGeom prst="rect">
              <a:avLst/>
            </a:prstGeom>
            <a:effectLst/>
          </p:spPr>
        </p:pic>
      </p:grpSp>
      <p:pic>
        <p:nvPicPr>
          <p:cNvPr id="345" name="연결선" descr="연결선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5750485" y="4085949"/>
            <a:ext cx="1446320" cy="1875791"/>
          </a:xfrm>
          <a:prstGeom prst="rect">
            <a:avLst/>
          </a:prstGeom>
        </p:spPr>
      </p:pic>
      <p:pic>
        <p:nvPicPr>
          <p:cNvPr id="347" name="연결선" descr="연결선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17267549" y="5395511"/>
            <a:ext cx="1761013" cy="2171598"/>
          </a:xfrm>
          <a:prstGeom prst="rect">
            <a:avLst/>
          </a:prstGeom>
        </p:spPr>
      </p:pic>
      <p:pic>
        <p:nvPicPr>
          <p:cNvPr id="349" name="연결선" descr="연결선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4894572" y="7098643"/>
            <a:ext cx="3386469" cy="2318354"/>
          </a:xfrm>
          <a:prstGeom prst="rect">
            <a:avLst/>
          </a:prstGeom>
        </p:spPr>
      </p:pic>
      <p:pic>
        <p:nvPicPr>
          <p:cNvPr id="351" name="연결선" descr="연결선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15939445" y="8941982"/>
            <a:ext cx="1360196" cy="1507757"/>
          </a:xfrm>
          <a:prstGeom prst="rect">
            <a:avLst/>
          </a:prstGeom>
        </p:spPr>
      </p:pic>
      <p:pic>
        <p:nvPicPr>
          <p:cNvPr id="353" name="연결선" descr="연결선"/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6999560" y="10553900"/>
            <a:ext cx="2035163" cy="19408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3F3574-9009-539B-07E3-1B3634532336}"/>
              </a:ext>
            </a:extLst>
          </p:cNvPr>
          <p:cNvSpPr txBox="1"/>
          <p:nvPr/>
        </p:nvSpPr>
        <p:spPr>
          <a:xfrm flipH="1">
            <a:off x="5460593" y="4730168"/>
            <a:ext cx="347287" cy="7575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ko-KR" altLang="en-US" dirty="0"/>
              <a:t>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227BFF-2D89-190D-123F-5419FDA1FCBE}"/>
              </a:ext>
            </a:extLst>
          </p:cNvPr>
          <p:cNvSpPr txBox="1"/>
          <p:nvPr/>
        </p:nvSpPr>
        <p:spPr>
          <a:xfrm flipH="1">
            <a:off x="18459871" y="5582950"/>
            <a:ext cx="347287" cy="7575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ko-KR" altLang="en-US" dirty="0"/>
              <a:t>✅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감사합니다.…"/>
          <p:cNvSpPr txBox="1">
            <a:spLocks noGrp="1"/>
          </p:cNvSpPr>
          <p:nvPr>
            <p:ph type="body" sz="quarter" idx="1"/>
          </p:nvPr>
        </p:nvSpPr>
        <p:spPr>
          <a:xfrm>
            <a:off x="17396893" y="8143942"/>
            <a:ext cx="8536055" cy="540992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rPr dirty="0" err="1"/>
              <a:t>감사합니다</a:t>
            </a:r>
            <a:r>
              <a:rPr dirty="0"/>
              <a:t>.</a:t>
            </a:r>
          </a:p>
          <a:p>
            <a:pPr>
              <a:defRPr sz="3500"/>
            </a:pPr>
            <a:r>
              <a:rPr dirty="0" err="1"/>
              <a:t>작성자</a:t>
            </a:r>
            <a:r>
              <a:rPr dirty="0"/>
              <a:t>: 강희지</a:t>
            </a:r>
          </a:p>
          <a:p>
            <a:pPr>
              <a:defRPr sz="3500"/>
            </a:pPr>
            <a:r>
              <a:rPr dirty="0" err="1"/>
              <a:t>이메일</a:t>
            </a:r>
            <a:r>
              <a:rPr dirty="0"/>
              <a:t>: </a:t>
            </a:r>
            <a:r>
              <a:rPr u="sng" dirty="0">
                <a:hlinkClick r:id="rId2"/>
              </a:rPr>
              <a:t>mirulili@naver.com</a:t>
            </a:r>
          </a:p>
          <a:p>
            <a:pPr>
              <a:defRPr sz="3500"/>
            </a:pPr>
            <a:r>
              <a:rPr dirty="0" err="1"/>
              <a:t>전화번호</a:t>
            </a:r>
            <a:r>
              <a:rPr dirty="0"/>
              <a:t>: 010-5755-4550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E74EF-B0EE-443D-A092-BE3B91171D5B}"/>
              </a:ext>
            </a:extLst>
          </p:cNvPr>
          <p:cNvSpPr txBox="1"/>
          <p:nvPr/>
        </p:nvSpPr>
        <p:spPr>
          <a:xfrm>
            <a:off x="20733489" y="8207737"/>
            <a:ext cx="1254641" cy="7768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>
                <a:effectLst/>
                <a:latin typeface="Apple Color Emoji" pitchFamily="2" charset="0"/>
              </a:rPr>
              <a:t>🐵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846</Words>
  <Application>Microsoft Macintosh PowerPoint</Application>
  <PresentationFormat>사용자 지정</PresentationFormat>
  <Paragraphs>144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NanumGothic</vt:lpstr>
      <vt:lpstr>Apple Color Emoji</vt:lpstr>
      <vt:lpstr>Cambria Math</vt:lpstr>
      <vt:lpstr>Helvetica Neue Medium</vt:lpstr>
      <vt:lpstr>21_BasicWhite</vt:lpstr>
      <vt:lpstr>Friendantial</vt:lpstr>
      <vt:lpstr>PowerPoint 프레젠테이션</vt:lpstr>
      <vt:lpstr>Friend + Financial  = Friendantial</vt:lpstr>
      <vt:lpstr>1. 기획 배경</vt:lpstr>
      <vt:lpstr>2. 솔루션 구상</vt:lpstr>
      <vt:lpstr>2. 솔루션 구상</vt:lpstr>
      <vt:lpstr>3. Friendantial 만의 특별함</vt:lpstr>
      <vt:lpstr>3. Friendantial 만의 특별함</vt:lpstr>
      <vt:lpstr>4. 아키텍쳐</vt:lpstr>
      <vt:lpstr>4. 아키텍쳐</vt:lpstr>
      <vt:lpstr>5. 기술 스택</vt:lpstr>
      <vt:lpstr>6. 핵심 구현</vt:lpstr>
      <vt:lpstr>6. 핵심 구현</vt:lpstr>
      <vt:lpstr>7. 구현 현황</vt:lpstr>
      <vt:lpstr>8. 구현 세부사항</vt:lpstr>
      <vt:lpstr>8. 구현 세부사항</vt:lpstr>
      <vt:lpstr>8. 구현 세부사항</vt:lpstr>
      <vt:lpstr>8. 구현 세부사항</vt:lpstr>
      <vt:lpstr>8. 구현 세부사항</vt:lpstr>
      <vt:lpstr>8. 구현 세부사항</vt:lpstr>
      <vt:lpstr>8. 구현 세부사항</vt:lpstr>
      <vt:lpstr>9. 향후 성능 개선 및 기술적 목표</vt:lpstr>
      <vt:lpstr>9. 향후 성능 개선 및 기술적 목표</vt:lpstr>
      <vt:lpstr>10. 실사용 시나리오</vt:lpstr>
      <vt:lpstr>11. 개발 마일스톤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미루 강</cp:lastModifiedBy>
  <cp:revision>19</cp:revision>
  <dcterms:modified xsi:type="dcterms:W3CDTF">2025-09-19T00:24:57Z</dcterms:modified>
</cp:coreProperties>
</file>